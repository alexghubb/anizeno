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5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5" autoAdjust="0"/>
    <p:restoredTop sz="92989" autoAdjust="0"/>
  </p:normalViewPr>
  <p:slideViewPr>
    <p:cSldViewPr snapToGrid="0">
      <p:cViewPr varScale="1">
        <p:scale>
          <a:sx n="108" d="100"/>
          <a:sy n="108" d="100"/>
        </p:scale>
        <p:origin x="54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D5ABE0D-2183-460C-8CDA-E01CF4647CB4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90B94C9-8E92-4C41-AD4D-B0CF3418D9E1}">
      <dgm:prSet/>
      <dgm:spPr/>
      <dgm:t>
        <a:bodyPr/>
        <a:lstStyle/>
        <a:p>
          <a:pPr rtl="0"/>
          <a:r>
            <a:rPr lang="es-ES" smtClean="0"/>
            <a:t>LA TECNOLOGÍA</a:t>
          </a:r>
          <a:endParaRPr lang="es-ES"/>
        </a:p>
      </dgm:t>
    </dgm:pt>
    <dgm:pt modelId="{EED50648-715D-4E38-95B3-DAAE11B8B6A4}" type="parTrans" cxnId="{E3541F68-1D30-4131-9AEB-C660F448A2B9}">
      <dgm:prSet/>
      <dgm:spPr/>
      <dgm:t>
        <a:bodyPr/>
        <a:lstStyle/>
        <a:p>
          <a:endParaRPr lang="es-ES"/>
        </a:p>
      </dgm:t>
    </dgm:pt>
    <dgm:pt modelId="{693AD4CE-841B-4DD3-8C02-316DF4D5ECEF}" type="sibTrans" cxnId="{E3541F68-1D30-4131-9AEB-C660F448A2B9}">
      <dgm:prSet/>
      <dgm:spPr/>
      <dgm:t>
        <a:bodyPr/>
        <a:lstStyle/>
        <a:p>
          <a:endParaRPr lang="es-ES"/>
        </a:p>
      </dgm:t>
    </dgm:pt>
    <dgm:pt modelId="{26E2827C-FF1B-4DEE-BE23-5203354CD7FB}">
      <dgm:prSet/>
      <dgm:spPr/>
      <dgm:t>
        <a:bodyPr/>
        <a:lstStyle/>
        <a:p>
          <a:pPr rtl="0"/>
          <a:r>
            <a:rPr lang="es-ES" dirty="0" smtClean="0"/>
            <a:t>La </a:t>
          </a:r>
          <a:r>
            <a:rPr lang="es-ES" b="1" dirty="0" smtClean="0"/>
            <a:t>UI imperativa </a:t>
          </a:r>
          <a:r>
            <a:rPr lang="es-ES" dirty="0" smtClean="0"/>
            <a:t>de XML </a:t>
          </a:r>
          <a:r>
            <a:rPr lang="es-ES" dirty="0" smtClean="0">
              <a:sym typeface="Wingdings" panose="05000000000000000000" pitchFamily="2" charset="2"/>
            </a:rPr>
            <a:t></a:t>
          </a:r>
          <a:r>
            <a:rPr lang="es-ES" dirty="0" smtClean="0"/>
            <a:t> </a:t>
          </a:r>
          <a:r>
            <a:rPr lang="es-ES" b="1" dirty="0" smtClean="0"/>
            <a:t>declarativa</a:t>
          </a:r>
          <a:r>
            <a:rPr lang="es-ES" dirty="0" smtClean="0"/>
            <a:t> con Compose (unificado)</a:t>
          </a:r>
          <a:endParaRPr lang="es-ES" dirty="0"/>
        </a:p>
      </dgm:t>
    </dgm:pt>
    <dgm:pt modelId="{14A116AC-6C94-4621-8254-14B054ABEB09}" type="parTrans" cxnId="{73513F56-2CB2-44E9-A9A8-7DAB761819AE}">
      <dgm:prSet/>
      <dgm:spPr/>
      <dgm:t>
        <a:bodyPr/>
        <a:lstStyle/>
        <a:p>
          <a:endParaRPr lang="es-ES"/>
        </a:p>
      </dgm:t>
    </dgm:pt>
    <dgm:pt modelId="{9C57AB68-FFEF-463C-9EB4-1A0A61277125}" type="sibTrans" cxnId="{73513F56-2CB2-44E9-A9A8-7DAB761819AE}">
      <dgm:prSet/>
      <dgm:spPr/>
      <dgm:t>
        <a:bodyPr/>
        <a:lstStyle/>
        <a:p>
          <a:endParaRPr lang="es-ES"/>
        </a:p>
      </dgm:t>
    </dgm:pt>
    <dgm:pt modelId="{FBD2A7B4-86C7-464D-AE19-2290EC32B277}">
      <dgm:prSet/>
      <dgm:spPr/>
      <dgm:t>
        <a:bodyPr/>
        <a:lstStyle/>
        <a:p>
          <a:pPr rtl="0"/>
          <a:r>
            <a:rPr lang="es-ES" dirty="0" smtClean="0"/>
            <a:t>Activities/</a:t>
          </a:r>
          <a:r>
            <a:rPr lang="es-ES" dirty="0" err="1" smtClean="0"/>
            <a:t>Fragments</a:t>
          </a:r>
          <a:r>
            <a:rPr lang="es-ES" dirty="0" smtClean="0"/>
            <a:t> </a:t>
          </a:r>
          <a:r>
            <a:rPr lang="es-ES" dirty="0" smtClean="0">
              <a:sym typeface="Wingdings" panose="05000000000000000000" pitchFamily="2" charset="2"/>
            </a:rPr>
            <a:t></a:t>
          </a:r>
          <a:r>
            <a:rPr lang="es-ES" dirty="0" smtClean="0"/>
            <a:t> </a:t>
          </a:r>
          <a:r>
            <a:rPr lang="es-ES" b="1" dirty="0" smtClean="0"/>
            <a:t>MVVM</a:t>
          </a:r>
          <a:endParaRPr lang="es-ES" dirty="0"/>
        </a:p>
      </dgm:t>
    </dgm:pt>
    <dgm:pt modelId="{94D5390F-5F4F-415D-B63F-EF2B7B235C79}" type="parTrans" cxnId="{E67EFCC1-BD16-4504-B58A-17EF254E8683}">
      <dgm:prSet/>
      <dgm:spPr/>
      <dgm:t>
        <a:bodyPr/>
        <a:lstStyle/>
        <a:p>
          <a:endParaRPr lang="es-ES"/>
        </a:p>
      </dgm:t>
    </dgm:pt>
    <dgm:pt modelId="{EFC8AD67-C2B4-4459-BAD5-DAAA61B05BC4}" type="sibTrans" cxnId="{E67EFCC1-BD16-4504-B58A-17EF254E8683}">
      <dgm:prSet/>
      <dgm:spPr/>
      <dgm:t>
        <a:bodyPr/>
        <a:lstStyle/>
        <a:p>
          <a:endParaRPr lang="es-ES"/>
        </a:p>
      </dgm:t>
    </dgm:pt>
    <dgm:pt modelId="{2207F6F1-E3B2-4E26-AA9C-3D4082E73EE4}">
      <dgm:prSet/>
      <dgm:spPr/>
      <dgm:t>
        <a:bodyPr/>
        <a:lstStyle/>
        <a:p>
          <a:pPr rtl="0"/>
          <a:r>
            <a:rPr lang="es-ES" dirty="0" smtClean="0"/>
            <a:t>Referenciado de vistas </a:t>
          </a:r>
          <a:r>
            <a:rPr lang="es-ES" dirty="0" smtClean="0">
              <a:sym typeface="Wingdings" panose="05000000000000000000" pitchFamily="2" charset="2"/>
            </a:rPr>
            <a:t></a:t>
          </a:r>
          <a:r>
            <a:rPr lang="es-ES" dirty="0" smtClean="0"/>
            <a:t> </a:t>
          </a:r>
          <a:r>
            <a:rPr lang="es-ES" b="1" dirty="0" smtClean="0"/>
            <a:t>UI reactiva </a:t>
          </a:r>
          <a:r>
            <a:rPr lang="es-ES" dirty="0" smtClean="0"/>
            <a:t>basada en estados</a:t>
          </a:r>
          <a:endParaRPr lang="es-ES" dirty="0"/>
        </a:p>
      </dgm:t>
    </dgm:pt>
    <dgm:pt modelId="{CFDF4B93-5A82-49E9-8F23-96D835F2CE90}" type="parTrans" cxnId="{7E535827-244C-4F9A-9B36-7A184BD2C759}">
      <dgm:prSet/>
      <dgm:spPr/>
      <dgm:t>
        <a:bodyPr/>
        <a:lstStyle/>
        <a:p>
          <a:endParaRPr lang="es-ES"/>
        </a:p>
      </dgm:t>
    </dgm:pt>
    <dgm:pt modelId="{508002C1-B1D5-41B1-9569-3CE91D0AC727}" type="sibTrans" cxnId="{7E535827-244C-4F9A-9B36-7A184BD2C759}">
      <dgm:prSet/>
      <dgm:spPr/>
      <dgm:t>
        <a:bodyPr/>
        <a:lstStyle/>
        <a:p>
          <a:endParaRPr lang="es-ES"/>
        </a:p>
      </dgm:t>
    </dgm:pt>
    <dgm:pt modelId="{F475A010-E9B0-46F2-9AA9-1FCCB304A232}">
      <dgm:prSet/>
      <dgm:spPr/>
      <dgm:t>
        <a:bodyPr/>
        <a:lstStyle/>
        <a:p>
          <a:pPr rtl="0"/>
          <a:r>
            <a:rPr lang="es-ES" b="1" dirty="0" smtClean="0"/>
            <a:t>Binding manual </a:t>
          </a:r>
          <a:r>
            <a:rPr lang="es-ES" dirty="0" smtClean="0">
              <a:sym typeface="Wingdings" panose="05000000000000000000" pitchFamily="2" charset="2"/>
            </a:rPr>
            <a:t></a:t>
          </a:r>
          <a:r>
            <a:rPr lang="es-ES" dirty="0" smtClean="0"/>
            <a:t> Código composable</a:t>
          </a:r>
          <a:endParaRPr lang="es-ES" dirty="0"/>
        </a:p>
      </dgm:t>
    </dgm:pt>
    <dgm:pt modelId="{98D86941-4DAD-4132-9BAF-C610D0E3F734}" type="parTrans" cxnId="{FF597ED9-55EE-4C0F-B620-9FFB53BC7E71}">
      <dgm:prSet/>
      <dgm:spPr/>
      <dgm:t>
        <a:bodyPr/>
        <a:lstStyle/>
        <a:p>
          <a:endParaRPr lang="es-ES"/>
        </a:p>
      </dgm:t>
    </dgm:pt>
    <dgm:pt modelId="{4AF055D6-6AD9-469C-A62C-85D7A8626763}" type="sibTrans" cxnId="{FF597ED9-55EE-4C0F-B620-9FFB53BC7E71}">
      <dgm:prSet/>
      <dgm:spPr/>
      <dgm:t>
        <a:bodyPr/>
        <a:lstStyle/>
        <a:p>
          <a:endParaRPr lang="es-ES"/>
        </a:p>
      </dgm:t>
    </dgm:pt>
    <dgm:pt modelId="{A94B9286-2AEE-41A4-BA4B-DF9EA972BB4F}">
      <dgm:prSet/>
      <dgm:spPr/>
      <dgm:t>
        <a:bodyPr/>
        <a:lstStyle/>
        <a:p>
          <a:pPr rtl="0"/>
          <a:r>
            <a:rPr lang="es-ES" dirty="0" smtClean="0"/>
            <a:t>Optimización manual </a:t>
          </a:r>
          <a:r>
            <a:rPr lang="es-ES" dirty="0" smtClean="0">
              <a:sym typeface="Wingdings" panose="05000000000000000000" pitchFamily="2" charset="2"/>
            </a:rPr>
            <a:t></a:t>
          </a:r>
          <a:r>
            <a:rPr lang="es-ES" dirty="0" smtClean="0"/>
            <a:t> Compose optimiza auto.</a:t>
          </a:r>
          <a:endParaRPr lang="es-ES" dirty="0"/>
        </a:p>
      </dgm:t>
    </dgm:pt>
    <dgm:pt modelId="{25F3CE9D-99E5-45B5-91DD-A0714FC4EC60}" type="parTrans" cxnId="{C49959E0-7377-4D0A-889A-E9BC96194B10}">
      <dgm:prSet/>
      <dgm:spPr/>
      <dgm:t>
        <a:bodyPr/>
        <a:lstStyle/>
        <a:p>
          <a:endParaRPr lang="es-ES"/>
        </a:p>
      </dgm:t>
    </dgm:pt>
    <dgm:pt modelId="{AFADC509-1BB2-4246-A982-BAEF746A3965}" type="sibTrans" cxnId="{C49959E0-7377-4D0A-889A-E9BC96194B10}">
      <dgm:prSet/>
      <dgm:spPr/>
      <dgm:t>
        <a:bodyPr/>
        <a:lstStyle/>
        <a:p>
          <a:endParaRPr lang="es-ES"/>
        </a:p>
      </dgm:t>
    </dgm:pt>
    <dgm:pt modelId="{ECAEA374-FBB1-4155-A831-73678A95CC9B}">
      <dgm:prSet/>
      <dgm:spPr/>
      <dgm:t>
        <a:bodyPr/>
        <a:lstStyle/>
        <a:p>
          <a:pPr rtl="0"/>
          <a:r>
            <a:rPr lang="es-ES" dirty="0" smtClean="0"/>
            <a:t>Mayor carga de animaciones </a:t>
          </a:r>
          <a:r>
            <a:rPr lang="es-ES" dirty="0" smtClean="0">
              <a:sym typeface="Wingdings" panose="05000000000000000000" pitchFamily="2" charset="2"/>
            </a:rPr>
            <a:t></a:t>
          </a:r>
          <a:r>
            <a:rPr lang="es-ES" dirty="0" smtClean="0"/>
            <a:t> </a:t>
          </a:r>
          <a:r>
            <a:rPr lang="es-ES" b="1" dirty="0" smtClean="0"/>
            <a:t>Animaciones más ligeras </a:t>
          </a:r>
          <a:r>
            <a:rPr lang="es-ES" dirty="0" smtClean="0"/>
            <a:t>(Compose) </a:t>
          </a:r>
          <a:endParaRPr lang="es-ES" dirty="0"/>
        </a:p>
      </dgm:t>
    </dgm:pt>
    <dgm:pt modelId="{E8954CF2-D2FA-485D-914C-A235E815B5EA}" type="parTrans" cxnId="{68043BD2-72AA-44B8-A51E-03A4F02BEAE9}">
      <dgm:prSet/>
      <dgm:spPr/>
      <dgm:t>
        <a:bodyPr/>
        <a:lstStyle/>
        <a:p>
          <a:endParaRPr lang="es-ES"/>
        </a:p>
      </dgm:t>
    </dgm:pt>
    <dgm:pt modelId="{586BBBEF-997B-430E-8CA6-9EF67CBF9DE3}" type="sibTrans" cxnId="{68043BD2-72AA-44B8-A51E-03A4F02BEAE9}">
      <dgm:prSet/>
      <dgm:spPr/>
      <dgm:t>
        <a:bodyPr/>
        <a:lstStyle/>
        <a:p>
          <a:endParaRPr lang="es-ES"/>
        </a:p>
      </dgm:t>
    </dgm:pt>
    <dgm:pt modelId="{881414FF-7DA8-4092-A7B3-BEE67A2349AB}">
      <dgm:prSet/>
      <dgm:spPr/>
      <dgm:t>
        <a:bodyPr/>
        <a:lstStyle/>
        <a:p>
          <a:pPr rtl="0"/>
          <a:r>
            <a:rPr lang="es-ES" b="1" dirty="0" smtClean="0"/>
            <a:t>LiveData</a:t>
          </a:r>
          <a:r>
            <a:rPr lang="es-ES" dirty="0" smtClean="0"/>
            <a:t> </a:t>
          </a:r>
          <a:r>
            <a:rPr lang="es-ES" dirty="0" smtClean="0">
              <a:sym typeface="Wingdings" panose="05000000000000000000" pitchFamily="2" charset="2"/>
            </a:rPr>
            <a:t></a:t>
          </a:r>
          <a:r>
            <a:rPr lang="es-ES" dirty="0" smtClean="0"/>
            <a:t> Estados StateFlow, </a:t>
          </a:r>
          <a:r>
            <a:rPr lang="es-ES" dirty="0" smtClean="0"/>
            <a:t>Remenber</a:t>
          </a:r>
          <a:r>
            <a:rPr lang="es-ES" dirty="0" smtClean="0"/>
            <a:t>, </a:t>
          </a:r>
          <a:r>
            <a:rPr lang="es-ES" b="1" dirty="0" smtClean="0"/>
            <a:t>MutableState</a:t>
          </a:r>
          <a:r>
            <a:rPr lang="es-ES" dirty="0" smtClean="0"/>
            <a:t>, MutableStateFlow</a:t>
          </a:r>
          <a:endParaRPr lang="es-ES" dirty="0"/>
        </a:p>
      </dgm:t>
    </dgm:pt>
    <dgm:pt modelId="{4329A08C-D5E9-4089-902B-D634083F17CC}" type="parTrans" cxnId="{D2CDEA17-25C7-4469-BE0D-518CFFD17EBA}">
      <dgm:prSet/>
      <dgm:spPr/>
      <dgm:t>
        <a:bodyPr/>
        <a:lstStyle/>
        <a:p>
          <a:endParaRPr lang="es-ES"/>
        </a:p>
      </dgm:t>
    </dgm:pt>
    <dgm:pt modelId="{320E475F-59FA-45C1-9065-A6720A115072}" type="sibTrans" cxnId="{D2CDEA17-25C7-4469-BE0D-518CFFD17EBA}">
      <dgm:prSet/>
      <dgm:spPr/>
      <dgm:t>
        <a:bodyPr/>
        <a:lstStyle/>
        <a:p>
          <a:endParaRPr lang="es-ES"/>
        </a:p>
      </dgm:t>
    </dgm:pt>
    <dgm:pt modelId="{8B7FFF6B-E533-48DB-A495-6ACE07BE7AC6}" type="pres">
      <dgm:prSet presAssocID="{6D5ABE0D-2183-460C-8CDA-E01CF4647CB4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FA419828-04DF-4C68-AC9F-C2AB2476DCEC}" type="pres">
      <dgm:prSet presAssocID="{790B94C9-8E92-4C41-AD4D-B0CF3418D9E1}" presName="linNode" presStyleCnt="0"/>
      <dgm:spPr/>
    </dgm:pt>
    <dgm:pt modelId="{FBC62372-0ABC-45DF-8EF4-FDB3043B191E}" type="pres">
      <dgm:prSet presAssocID="{790B94C9-8E92-4C41-AD4D-B0CF3418D9E1}" presName="parentText" presStyleLbl="node1" presStyleIdx="0" presStyleCnt="1" custScaleX="48841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102A419-A351-48AC-8777-0D8F13927D46}" type="pres">
      <dgm:prSet presAssocID="{790B94C9-8E92-4C41-AD4D-B0CF3418D9E1}" presName="descendantText" presStyleLbl="alignAccFollowNode1" presStyleIdx="0" presStyleCnt="1" custScaleX="278796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4CB4AE96-93D6-41F5-8CDF-E59299B08BF5}" type="presOf" srcId="{ECAEA374-FBB1-4155-A831-73678A95CC9B}" destId="{0102A419-A351-48AC-8777-0D8F13927D46}" srcOrd="0" destOrd="5" presId="urn:microsoft.com/office/officeart/2005/8/layout/vList5"/>
    <dgm:cxn modelId="{FF597ED9-55EE-4C0F-B620-9FFB53BC7E71}" srcId="{790B94C9-8E92-4C41-AD4D-B0CF3418D9E1}" destId="{F475A010-E9B0-46F2-9AA9-1FCCB304A232}" srcOrd="3" destOrd="0" parTransId="{98D86941-4DAD-4132-9BAF-C610D0E3F734}" sibTransId="{4AF055D6-6AD9-469C-A62C-85D7A8626763}"/>
    <dgm:cxn modelId="{D35AAAFD-D2C0-484F-95F4-1110C7789ACD}" type="presOf" srcId="{A94B9286-2AEE-41A4-BA4B-DF9EA972BB4F}" destId="{0102A419-A351-48AC-8777-0D8F13927D46}" srcOrd="0" destOrd="4" presId="urn:microsoft.com/office/officeart/2005/8/layout/vList5"/>
    <dgm:cxn modelId="{7E535827-244C-4F9A-9B36-7A184BD2C759}" srcId="{790B94C9-8E92-4C41-AD4D-B0CF3418D9E1}" destId="{2207F6F1-E3B2-4E26-AA9C-3D4082E73EE4}" srcOrd="2" destOrd="0" parTransId="{CFDF4B93-5A82-49E9-8F23-96D835F2CE90}" sibTransId="{508002C1-B1D5-41B1-9569-3CE91D0AC727}"/>
    <dgm:cxn modelId="{0BF3762D-7BBC-43D8-AEA5-FBB839048D30}" type="presOf" srcId="{6D5ABE0D-2183-460C-8CDA-E01CF4647CB4}" destId="{8B7FFF6B-E533-48DB-A495-6ACE07BE7AC6}" srcOrd="0" destOrd="0" presId="urn:microsoft.com/office/officeart/2005/8/layout/vList5"/>
    <dgm:cxn modelId="{68043BD2-72AA-44B8-A51E-03A4F02BEAE9}" srcId="{790B94C9-8E92-4C41-AD4D-B0CF3418D9E1}" destId="{ECAEA374-FBB1-4155-A831-73678A95CC9B}" srcOrd="5" destOrd="0" parTransId="{E8954CF2-D2FA-485D-914C-A235E815B5EA}" sibTransId="{586BBBEF-997B-430E-8CA6-9EF67CBF9DE3}"/>
    <dgm:cxn modelId="{73513F56-2CB2-44E9-A9A8-7DAB761819AE}" srcId="{790B94C9-8E92-4C41-AD4D-B0CF3418D9E1}" destId="{26E2827C-FF1B-4DEE-BE23-5203354CD7FB}" srcOrd="0" destOrd="0" parTransId="{14A116AC-6C94-4621-8254-14B054ABEB09}" sibTransId="{9C57AB68-FFEF-463C-9EB4-1A0A61277125}"/>
    <dgm:cxn modelId="{B6A0D9C6-0C0C-425A-925C-1EE05A35A9B2}" type="presOf" srcId="{F475A010-E9B0-46F2-9AA9-1FCCB304A232}" destId="{0102A419-A351-48AC-8777-0D8F13927D46}" srcOrd="0" destOrd="3" presId="urn:microsoft.com/office/officeart/2005/8/layout/vList5"/>
    <dgm:cxn modelId="{E3541F68-1D30-4131-9AEB-C660F448A2B9}" srcId="{6D5ABE0D-2183-460C-8CDA-E01CF4647CB4}" destId="{790B94C9-8E92-4C41-AD4D-B0CF3418D9E1}" srcOrd="0" destOrd="0" parTransId="{EED50648-715D-4E38-95B3-DAAE11B8B6A4}" sibTransId="{693AD4CE-841B-4DD3-8C02-316DF4D5ECEF}"/>
    <dgm:cxn modelId="{6FE53F7A-9598-4912-ACB8-B57DACDBAC94}" type="presOf" srcId="{26E2827C-FF1B-4DEE-BE23-5203354CD7FB}" destId="{0102A419-A351-48AC-8777-0D8F13927D46}" srcOrd="0" destOrd="0" presId="urn:microsoft.com/office/officeart/2005/8/layout/vList5"/>
    <dgm:cxn modelId="{4C59347C-1251-441F-82CA-6AF44F0A1A30}" type="presOf" srcId="{2207F6F1-E3B2-4E26-AA9C-3D4082E73EE4}" destId="{0102A419-A351-48AC-8777-0D8F13927D46}" srcOrd="0" destOrd="2" presId="urn:microsoft.com/office/officeart/2005/8/layout/vList5"/>
    <dgm:cxn modelId="{D2CDEA17-25C7-4469-BE0D-518CFFD17EBA}" srcId="{790B94C9-8E92-4C41-AD4D-B0CF3418D9E1}" destId="{881414FF-7DA8-4092-A7B3-BEE67A2349AB}" srcOrd="6" destOrd="0" parTransId="{4329A08C-D5E9-4089-902B-D634083F17CC}" sibTransId="{320E475F-59FA-45C1-9065-A6720A115072}"/>
    <dgm:cxn modelId="{E67EFCC1-BD16-4504-B58A-17EF254E8683}" srcId="{790B94C9-8E92-4C41-AD4D-B0CF3418D9E1}" destId="{FBD2A7B4-86C7-464D-AE19-2290EC32B277}" srcOrd="1" destOrd="0" parTransId="{94D5390F-5F4F-415D-B63F-EF2B7B235C79}" sibTransId="{EFC8AD67-C2B4-4459-BAD5-DAAA61B05BC4}"/>
    <dgm:cxn modelId="{C49959E0-7377-4D0A-889A-E9BC96194B10}" srcId="{790B94C9-8E92-4C41-AD4D-B0CF3418D9E1}" destId="{A94B9286-2AEE-41A4-BA4B-DF9EA972BB4F}" srcOrd="4" destOrd="0" parTransId="{25F3CE9D-99E5-45B5-91DD-A0714FC4EC60}" sibTransId="{AFADC509-1BB2-4246-A982-BAEF746A3965}"/>
    <dgm:cxn modelId="{E85A1B51-0B1E-4FD3-80BA-BFA257B516AA}" type="presOf" srcId="{790B94C9-8E92-4C41-AD4D-B0CF3418D9E1}" destId="{FBC62372-0ABC-45DF-8EF4-FDB3043B191E}" srcOrd="0" destOrd="0" presId="urn:microsoft.com/office/officeart/2005/8/layout/vList5"/>
    <dgm:cxn modelId="{8A18163B-BFCE-47EE-8A45-34CE846C6071}" type="presOf" srcId="{881414FF-7DA8-4092-A7B3-BEE67A2349AB}" destId="{0102A419-A351-48AC-8777-0D8F13927D46}" srcOrd="0" destOrd="6" presId="urn:microsoft.com/office/officeart/2005/8/layout/vList5"/>
    <dgm:cxn modelId="{FDBA0904-CDAE-481B-ACE7-D4B562743F7E}" type="presOf" srcId="{FBD2A7B4-86C7-464D-AE19-2290EC32B277}" destId="{0102A419-A351-48AC-8777-0D8F13927D46}" srcOrd="0" destOrd="1" presId="urn:microsoft.com/office/officeart/2005/8/layout/vList5"/>
    <dgm:cxn modelId="{9B2C5567-1BE2-4411-8376-4FDF4B095C47}" type="presParOf" srcId="{8B7FFF6B-E533-48DB-A495-6ACE07BE7AC6}" destId="{FA419828-04DF-4C68-AC9F-C2AB2476DCEC}" srcOrd="0" destOrd="0" presId="urn:microsoft.com/office/officeart/2005/8/layout/vList5"/>
    <dgm:cxn modelId="{37A4DAC2-B392-44A4-B011-72536E636CD9}" type="presParOf" srcId="{FA419828-04DF-4C68-AC9F-C2AB2476DCEC}" destId="{FBC62372-0ABC-45DF-8EF4-FDB3043B191E}" srcOrd="0" destOrd="0" presId="urn:microsoft.com/office/officeart/2005/8/layout/vList5"/>
    <dgm:cxn modelId="{8A52931B-FF25-4589-BB70-266131CB8D3E}" type="presParOf" srcId="{FA419828-04DF-4C68-AC9F-C2AB2476DCEC}" destId="{0102A419-A351-48AC-8777-0D8F13927D46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02A419-A351-48AC-8777-0D8F13927D46}">
      <dsp:nvSpPr>
        <dsp:cNvPr id="0" name=""/>
        <dsp:cNvSpPr/>
      </dsp:nvSpPr>
      <dsp:spPr>
        <a:xfrm rot="5400000">
          <a:off x="4742375" y="-3432702"/>
          <a:ext cx="2533459" cy="1003222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2000" kern="1200" dirty="0" smtClean="0"/>
            <a:t>La </a:t>
          </a:r>
          <a:r>
            <a:rPr lang="es-ES" sz="2000" b="1" kern="1200" dirty="0" smtClean="0"/>
            <a:t>UI imperativa </a:t>
          </a:r>
          <a:r>
            <a:rPr lang="es-ES" sz="2000" kern="1200" dirty="0" smtClean="0"/>
            <a:t>de XML </a:t>
          </a:r>
          <a:r>
            <a:rPr lang="es-ES" sz="2000" kern="1200" dirty="0" smtClean="0">
              <a:sym typeface="Wingdings" panose="05000000000000000000" pitchFamily="2" charset="2"/>
            </a:rPr>
            <a:t></a:t>
          </a:r>
          <a:r>
            <a:rPr lang="es-ES" sz="2000" kern="1200" dirty="0" smtClean="0"/>
            <a:t> </a:t>
          </a:r>
          <a:r>
            <a:rPr lang="es-ES" sz="2000" b="1" kern="1200" dirty="0" smtClean="0"/>
            <a:t>declarativa</a:t>
          </a:r>
          <a:r>
            <a:rPr lang="es-ES" sz="2000" kern="1200" dirty="0" smtClean="0"/>
            <a:t> con Compose (unificado)</a:t>
          </a:r>
          <a:endParaRPr lang="es-ES" sz="2000" kern="1200" dirty="0"/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2000" kern="1200" dirty="0" smtClean="0"/>
            <a:t>Activities/</a:t>
          </a:r>
          <a:r>
            <a:rPr lang="es-ES" sz="2000" kern="1200" dirty="0" err="1" smtClean="0"/>
            <a:t>Fragments</a:t>
          </a:r>
          <a:r>
            <a:rPr lang="es-ES" sz="2000" kern="1200" dirty="0" smtClean="0"/>
            <a:t> </a:t>
          </a:r>
          <a:r>
            <a:rPr lang="es-ES" sz="2000" kern="1200" dirty="0" smtClean="0">
              <a:sym typeface="Wingdings" panose="05000000000000000000" pitchFamily="2" charset="2"/>
            </a:rPr>
            <a:t></a:t>
          </a:r>
          <a:r>
            <a:rPr lang="es-ES" sz="2000" kern="1200" dirty="0" smtClean="0"/>
            <a:t> </a:t>
          </a:r>
          <a:r>
            <a:rPr lang="es-ES" sz="2000" b="1" kern="1200" dirty="0" smtClean="0"/>
            <a:t>MVVM</a:t>
          </a:r>
          <a:endParaRPr lang="es-ES" sz="2000" kern="1200" dirty="0"/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2000" kern="1200" dirty="0" smtClean="0"/>
            <a:t>Referenciado de vistas </a:t>
          </a:r>
          <a:r>
            <a:rPr lang="es-ES" sz="2000" kern="1200" dirty="0" smtClean="0">
              <a:sym typeface="Wingdings" panose="05000000000000000000" pitchFamily="2" charset="2"/>
            </a:rPr>
            <a:t></a:t>
          </a:r>
          <a:r>
            <a:rPr lang="es-ES" sz="2000" kern="1200" dirty="0" smtClean="0"/>
            <a:t> </a:t>
          </a:r>
          <a:r>
            <a:rPr lang="es-ES" sz="2000" b="1" kern="1200" dirty="0" smtClean="0"/>
            <a:t>UI reactiva </a:t>
          </a:r>
          <a:r>
            <a:rPr lang="es-ES" sz="2000" kern="1200" dirty="0" smtClean="0"/>
            <a:t>basada en estados</a:t>
          </a:r>
          <a:endParaRPr lang="es-ES" sz="2000" kern="1200" dirty="0"/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2000" b="1" kern="1200" dirty="0" smtClean="0"/>
            <a:t>Binding manual </a:t>
          </a:r>
          <a:r>
            <a:rPr lang="es-ES" sz="2000" kern="1200" dirty="0" smtClean="0">
              <a:sym typeface="Wingdings" panose="05000000000000000000" pitchFamily="2" charset="2"/>
            </a:rPr>
            <a:t></a:t>
          </a:r>
          <a:r>
            <a:rPr lang="es-ES" sz="2000" kern="1200" dirty="0" smtClean="0"/>
            <a:t> Código composable</a:t>
          </a:r>
          <a:endParaRPr lang="es-ES" sz="2000" kern="1200" dirty="0"/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2000" kern="1200" dirty="0" smtClean="0"/>
            <a:t>Optimización manual </a:t>
          </a:r>
          <a:r>
            <a:rPr lang="es-ES" sz="2000" kern="1200" dirty="0" smtClean="0">
              <a:sym typeface="Wingdings" panose="05000000000000000000" pitchFamily="2" charset="2"/>
            </a:rPr>
            <a:t></a:t>
          </a:r>
          <a:r>
            <a:rPr lang="es-ES" sz="2000" kern="1200" dirty="0" smtClean="0"/>
            <a:t> Compose optimiza auto.</a:t>
          </a:r>
          <a:endParaRPr lang="es-ES" sz="2000" kern="1200" dirty="0"/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2000" kern="1200" dirty="0" smtClean="0"/>
            <a:t>Mayor carga de animaciones </a:t>
          </a:r>
          <a:r>
            <a:rPr lang="es-ES" sz="2000" kern="1200" dirty="0" smtClean="0">
              <a:sym typeface="Wingdings" panose="05000000000000000000" pitchFamily="2" charset="2"/>
            </a:rPr>
            <a:t></a:t>
          </a:r>
          <a:r>
            <a:rPr lang="es-ES" sz="2000" kern="1200" dirty="0" smtClean="0"/>
            <a:t> </a:t>
          </a:r>
          <a:r>
            <a:rPr lang="es-ES" sz="2000" b="1" kern="1200" dirty="0" smtClean="0"/>
            <a:t>Animaciones más ligeras </a:t>
          </a:r>
          <a:r>
            <a:rPr lang="es-ES" sz="2000" kern="1200" dirty="0" smtClean="0"/>
            <a:t>(Compose) </a:t>
          </a:r>
          <a:endParaRPr lang="es-ES" sz="2000" kern="1200" dirty="0"/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" sz="2000" b="1" kern="1200" dirty="0" smtClean="0"/>
            <a:t>LiveData</a:t>
          </a:r>
          <a:r>
            <a:rPr lang="es-ES" sz="2000" kern="1200" dirty="0" smtClean="0"/>
            <a:t> </a:t>
          </a:r>
          <a:r>
            <a:rPr lang="es-ES" sz="2000" kern="1200" dirty="0" smtClean="0">
              <a:sym typeface="Wingdings" panose="05000000000000000000" pitchFamily="2" charset="2"/>
            </a:rPr>
            <a:t></a:t>
          </a:r>
          <a:r>
            <a:rPr lang="es-ES" sz="2000" kern="1200" dirty="0" smtClean="0"/>
            <a:t> Estados StateFlow, </a:t>
          </a:r>
          <a:r>
            <a:rPr lang="es-ES" sz="2000" kern="1200" dirty="0" smtClean="0"/>
            <a:t>Remenber</a:t>
          </a:r>
          <a:r>
            <a:rPr lang="es-ES" sz="2000" kern="1200" dirty="0" smtClean="0"/>
            <a:t>, </a:t>
          </a:r>
          <a:r>
            <a:rPr lang="es-ES" sz="2000" b="1" kern="1200" dirty="0" smtClean="0"/>
            <a:t>MutableState</a:t>
          </a:r>
          <a:r>
            <a:rPr lang="es-ES" sz="2000" kern="1200" dirty="0" smtClean="0"/>
            <a:t>, MutableStateFlow</a:t>
          </a:r>
          <a:endParaRPr lang="es-ES" sz="2000" kern="1200" dirty="0"/>
        </a:p>
      </dsp:txBody>
      <dsp:txXfrm rot="-5400000">
        <a:off x="992991" y="440355"/>
        <a:ext cx="9908556" cy="2286113"/>
      </dsp:txXfrm>
    </dsp:sp>
    <dsp:sp modelId="{FBC62372-0ABC-45DF-8EF4-FDB3043B191E}">
      <dsp:nvSpPr>
        <dsp:cNvPr id="0" name=""/>
        <dsp:cNvSpPr/>
      </dsp:nvSpPr>
      <dsp:spPr>
        <a:xfrm>
          <a:off x="4396" y="0"/>
          <a:ext cx="988594" cy="31668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19050" rIns="38100" bIns="1905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000" kern="1200" smtClean="0"/>
            <a:t>LA TECNOLOGÍA</a:t>
          </a:r>
          <a:endParaRPr lang="es-ES" sz="1000" kern="1200"/>
        </a:p>
      </dsp:txBody>
      <dsp:txXfrm>
        <a:off x="52655" y="48259"/>
        <a:ext cx="892076" cy="30703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CC025B-9383-44F1-93B5-F19722BC5653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D671F24-306A-4342-B18F-74C91F27D3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76698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025B-9383-44F1-93B5-F19722BC5653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6D671F24-306A-4342-B18F-74C91F27D3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2097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CC025B-9383-44F1-93B5-F19722BC5653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D671F24-306A-4342-B18F-74C91F27D3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7518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025B-9383-44F1-93B5-F19722BC5653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71F24-306A-4342-B18F-74C91F27D3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59246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025B-9383-44F1-93B5-F19722BC5653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71F24-306A-4342-B18F-74C91F27D3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5300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025B-9383-44F1-93B5-F19722BC5653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71F24-306A-4342-B18F-74C91F27D3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5812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025B-9383-44F1-93B5-F19722BC5653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71F24-306A-4342-B18F-74C91F27D3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3567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CC025B-9383-44F1-93B5-F19722BC5653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D671F24-306A-4342-B18F-74C91F27D3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63445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025B-9383-44F1-93B5-F19722BC5653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71F24-306A-4342-B18F-74C91F27D3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95921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CC025B-9383-44F1-93B5-F19722BC5653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71F24-306A-4342-B18F-74C91F27D3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77397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CC025B-9383-44F1-93B5-F19722BC5653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D671F24-306A-4342-B18F-74C91F27D38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36473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CC025B-9383-44F1-93B5-F19722BC5653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D671F24-306A-4342-B18F-74C91F27D386}" type="slidenum">
              <a:rPr lang="es-ES" smtClean="0"/>
              <a:t>‹Nº›</a:t>
            </a:fld>
            <a:endParaRPr lang="es-E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9194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6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9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97710"/>
            <a:ext cx="9144000" cy="1100394"/>
          </a:xfrm>
        </p:spPr>
        <p:txBody>
          <a:bodyPr>
            <a:normAutofit/>
          </a:bodyPr>
          <a:lstStyle/>
          <a:p>
            <a:r>
              <a:rPr lang="en-US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Proyecto app Anizeno</a:t>
            </a:r>
            <a:endParaRPr lang="es-E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4775930"/>
            <a:ext cx="9144000" cy="1031746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just"/>
            <a:r>
              <a:rPr lang="es-ES" dirty="0" smtClean="0"/>
              <a:t>Autor</a:t>
            </a:r>
            <a:r>
              <a:rPr lang="en-US" dirty="0" smtClean="0"/>
              <a:t>: Alejandro Soria Torres</a:t>
            </a:r>
          </a:p>
          <a:p>
            <a:pPr algn="just"/>
            <a:r>
              <a:rPr lang="en-US" dirty="0" smtClean="0"/>
              <a:t>Tutor: José Antonio Ortega Hidalgo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538" y="1298104"/>
            <a:ext cx="4688327" cy="467575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882" y="1453978"/>
            <a:ext cx="1480236" cy="140974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9129" y="1453978"/>
            <a:ext cx="2882601" cy="141210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10561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2581" y="2135531"/>
            <a:ext cx="7466384" cy="26864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436" y="5412259"/>
            <a:ext cx="3876675" cy="7620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CuadroTexto 5"/>
          <p:cNvSpPr txBox="1"/>
          <p:nvPr/>
        </p:nvSpPr>
        <p:spPr>
          <a:xfrm>
            <a:off x="4524151" y="996778"/>
            <a:ext cx="2883243" cy="40862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INTRODUCCIÓN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39270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s-ES" dirty="0" smtClean="0"/>
              <a:t>¿Por</a:t>
            </a:r>
            <a:r>
              <a:rPr lang="en-US" dirty="0" smtClean="0"/>
              <a:t> </a:t>
            </a:r>
            <a:r>
              <a:rPr lang="es-ES" dirty="0" smtClean="0"/>
              <a:t>qué</a:t>
            </a:r>
            <a:r>
              <a:rPr lang="en-US" dirty="0" smtClean="0"/>
              <a:t> anizeno?</a:t>
            </a:r>
            <a:endParaRPr lang="es-ES" dirty="0"/>
          </a:p>
        </p:txBody>
      </p:sp>
      <p:sp>
        <p:nvSpPr>
          <p:cNvPr id="4" name="CuadroTexto 3"/>
          <p:cNvSpPr txBox="1"/>
          <p:nvPr/>
        </p:nvSpPr>
        <p:spPr>
          <a:xfrm>
            <a:off x="581193" y="2244416"/>
            <a:ext cx="2496064" cy="1634490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/>
              <a:t>Tenía que combinar una idea que me gustara con el desarrollo en Android con Compose </a:t>
            </a: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3440625" y="2245203"/>
            <a:ext cx="2141837" cy="132802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/>
              <a:t>Posibilidad de implementar versión web con Angular o similar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5945831" y="2244415"/>
            <a:ext cx="2552218" cy="132802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/>
              <a:t>Tener en cuenta la disponibilidad de APIs para series 3D y de animación Asiática</a:t>
            </a:r>
            <a:endParaRPr lang="es-ES" dirty="0"/>
          </a:p>
        </p:txBody>
      </p:sp>
      <p:sp>
        <p:nvSpPr>
          <p:cNvPr id="7" name="CuadroTexto 6"/>
          <p:cNvSpPr txBox="1"/>
          <p:nvPr/>
        </p:nvSpPr>
        <p:spPr>
          <a:xfrm>
            <a:off x="3440624" y="4103262"/>
            <a:ext cx="2141837" cy="715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/>
              <a:t>Diseño y temas propios</a:t>
            </a:r>
            <a:endParaRPr lang="es-ES" dirty="0"/>
          </a:p>
        </p:txBody>
      </p:sp>
      <p:sp>
        <p:nvSpPr>
          <p:cNvPr id="8" name="CuadroTexto 7"/>
          <p:cNvSpPr txBox="1"/>
          <p:nvPr/>
        </p:nvSpPr>
        <p:spPr>
          <a:xfrm>
            <a:off x="5945831" y="4103262"/>
            <a:ext cx="2552218" cy="1634490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/>
              <a:t>Alternativa a las grandes plataformas sobrecargadas de opciones, orientadas a la comunidad.</a:t>
            </a:r>
            <a:endParaRPr lang="es-ES" dirty="0"/>
          </a:p>
        </p:txBody>
      </p:sp>
      <p:sp>
        <p:nvSpPr>
          <p:cNvPr id="9" name="CuadroTexto 8"/>
          <p:cNvSpPr txBox="1"/>
          <p:nvPr/>
        </p:nvSpPr>
        <p:spPr>
          <a:xfrm>
            <a:off x="8861419" y="4103262"/>
            <a:ext cx="2552218" cy="715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/>
              <a:t>Guía personal de las series que veo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79513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s-ES" dirty="0" smtClean="0"/>
              <a:t>Estado del arte</a:t>
            </a:r>
            <a:endParaRPr lang="es-ES" dirty="0"/>
          </a:p>
        </p:txBody>
      </p:sp>
      <p:graphicFrame>
        <p:nvGraphicFramePr>
          <p:cNvPr id="4" name="Diagrama 3"/>
          <p:cNvGraphicFramePr/>
          <p:nvPr>
            <p:extLst>
              <p:ext uri="{D42A27DB-BD31-4B8C-83A1-F6EECF244321}">
                <p14:modId xmlns:p14="http://schemas.microsoft.com/office/powerpoint/2010/main" val="2123938071"/>
              </p:ext>
            </p:extLst>
          </p:nvPr>
        </p:nvGraphicFramePr>
        <p:xfrm>
          <a:off x="581192" y="1977900"/>
          <a:ext cx="11029616" cy="31668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7" name="Imagen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608357">
            <a:off x="290128" y="5295347"/>
            <a:ext cx="3752850" cy="1085850"/>
          </a:xfrm>
          <a:prstGeom prst="rect">
            <a:avLst/>
          </a:prstGeom>
          <a:ln>
            <a:solidFill>
              <a:schemeClr val="accent3"/>
            </a:solidFill>
          </a:ln>
          <a:effectLst>
            <a:softEdge rad="112500"/>
          </a:effectLst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564400">
            <a:off x="4190298" y="5435720"/>
            <a:ext cx="3343275" cy="1266825"/>
          </a:xfrm>
          <a:prstGeom prst="rect">
            <a:avLst/>
          </a:prstGeom>
          <a:ln>
            <a:solidFill>
              <a:schemeClr val="accent3"/>
            </a:solidFill>
          </a:ln>
          <a:effectLst>
            <a:softEdge rad="112500"/>
          </a:effectLst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51733">
            <a:off x="8100626" y="5242958"/>
            <a:ext cx="3676650" cy="11906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19050">
            <a:solidFill>
              <a:srgbClr val="00B050"/>
            </a:solidFill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CuadroTexto 10"/>
          <p:cNvSpPr txBox="1"/>
          <p:nvPr/>
        </p:nvSpPr>
        <p:spPr>
          <a:xfrm>
            <a:off x="10078089" y="3561312"/>
            <a:ext cx="1770696" cy="1055608"/>
          </a:xfrm>
          <a:prstGeom prst="roundRect">
            <a:avLst/>
          </a:prstGeom>
          <a:solidFill>
            <a:srgbClr val="92D050"/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smtClean="0"/>
              <a:t>Flujo Asíncrono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smtClean="0"/>
              <a:t>Emite estados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smtClean="0"/>
              <a:t>UI observando</a:t>
            </a:r>
          </a:p>
          <a:p>
            <a:endParaRPr lang="es-ES" sz="1400" dirty="0"/>
          </a:p>
        </p:txBody>
      </p:sp>
      <p:sp>
        <p:nvSpPr>
          <p:cNvPr id="3" name="CuadroTexto 2"/>
          <p:cNvSpPr txBox="1"/>
          <p:nvPr/>
        </p:nvSpPr>
        <p:spPr>
          <a:xfrm>
            <a:off x="9214741" y="2267341"/>
            <a:ext cx="2877691" cy="1293971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smtClean="0"/>
              <a:t>UI estática y modificación manual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L</a:t>
            </a:r>
            <a:r>
              <a:rPr lang="es-ES" sz="1400" dirty="0" smtClean="0"/>
              <a:t>ayouts más pesados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smtClean="0"/>
              <a:t>Mas difícil manejar estados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 smtClean="0"/>
              <a:t>Inflado de vistas</a:t>
            </a:r>
            <a:endParaRPr lang="es-ES" sz="140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637311">
            <a:off x="3453265" y="4897074"/>
            <a:ext cx="3571875" cy="4953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73435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s-ES" dirty="0" smtClean="0"/>
              <a:t>Estado del arte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4984104" y="1866690"/>
            <a:ext cx="2195172" cy="40862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LA COMPETENCIA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581191" y="2275313"/>
            <a:ext cx="3125835" cy="1634490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Plataformas </a:t>
            </a:r>
            <a:r>
              <a:rPr lang="es-E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</a:t>
            </a:r>
            <a:r>
              <a:rPr lang="es-E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omplejas</a:t>
            </a:r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como MyAnimeList orientadas a la </a:t>
            </a:r>
            <a:r>
              <a:rPr lang="es-E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masificación del contenido </a:t>
            </a:r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y también la interacción.</a:t>
            </a:r>
          </a:p>
        </p:txBody>
      </p:sp>
      <p:sp>
        <p:nvSpPr>
          <p:cNvPr id="11" name="CuadroTexto 10"/>
          <p:cNvSpPr txBox="1"/>
          <p:nvPr/>
        </p:nvSpPr>
        <p:spPr>
          <a:xfrm>
            <a:off x="4053441" y="2833948"/>
            <a:ext cx="3125835" cy="1021556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Plataformas como Kitsu orientadas a la</a:t>
            </a:r>
            <a:r>
              <a:rPr lang="es-E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interacción masiva</a:t>
            </a:r>
          </a:p>
        </p:txBody>
      </p:sp>
      <p:sp>
        <p:nvSpPr>
          <p:cNvPr id="12" name="CuadroTexto 11"/>
          <p:cNvSpPr txBox="1"/>
          <p:nvPr/>
        </p:nvSpPr>
        <p:spPr>
          <a:xfrm>
            <a:off x="7851085" y="2581780"/>
            <a:ext cx="3125835" cy="132802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Implementaciones </a:t>
            </a:r>
            <a:r>
              <a:rPr lang="es-ES" b="1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multiplataforma</a:t>
            </a:r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más complejas de mantener y actualizar</a:t>
            </a:r>
          </a:p>
        </p:txBody>
      </p:sp>
      <p:sp>
        <p:nvSpPr>
          <p:cNvPr id="13" name="CuadroTexto 12"/>
          <p:cNvSpPr txBox="1"/>
          <p:nvPr/>
        </p:nvSpPr>
        <p:spPr>
          <a:xfrm>
            <a:off x="2144108" y="4469160"/>
            <a:ext cx="3125835" cy="715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Comunidad antes que exp personal</a:t>
            </a:r>
            <a:endParaRPr lang="es-ES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4" name="CuadroTexto 13"/>
          <p:cNvSpPr txBox="1"/>
          <p:nvPr/>
        </p:nvSpPr>
        <p:spPr>
          <a:xfrm>
            <a:off x="6782011" y="4462161"/>
            <a:ext cx="3125835" cy="40862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Plataforma grande vs </a:t>
            </a:r>
            <a:r>
              <a:rPr lang="es-ES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indie</a:t>
            </a:r>
            <a:endParaRPr lang="es-ES" b="1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" name="CuadroTexto 8"/>
          <p:cNvSpPr txBox="1"/>
          <p:nvPr/>
        </p:nvSpPr>
        <p:spPr>
          <a:xfrm>
            <a:off x="4405395" y="5539294"/>
            <a:ext cx="3125835" cy="715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Se continua usando el viejo XML </a:t>
            </a:r>
          </a:p>
        </p:txBody>
      </p:sp>
    </p:spTree>
    <p:extLst>
      <p:ext uri="{BB962C8B-B14F-4D97-AF65-F5344CB8AC3E}">
        <p14:creationId xmlns:p14="http://schemas.microsoft.com/office/powerpoint/2010/main" val="3856737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s-ES" dirty="0" smtClean="0"/>
              <a:t>Retos</a:t>
            </a:r>
            <a:endParaRPr lang="es-ES" dirty="0"/>
          </a:p>
        </p:txBody>
      </p:sp>
      <p:sp>
        <p:nvSpPr>
          <p:cNvPr id="4" name="CuadroTexto 3"/>
          <p:cNvSpPr txBox="1"/>
          <p:nvPr/>
        </p:nvSpPr>
        <p:spPr>
          <a:xfrm>
            <a:off x="581191" y="2714761"/>
            <a:ext cx="1655381" cy="1634490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UI declarativa con Kotlin frente al XML aprendido en clase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2364470" y="2000816"/>
            <a:ext cx="7463057" cy="40862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Desarrollar en Android supone retos técnicos con la nueva Jetpack Compose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7171677" y="4862906"/>
            <a:ext cx="1655381" cy="1021556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Reducir el tamaño del APK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2693772" y="4045661"/>
            <a:ext cx="2339122" cy="1634490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Asimilar una arquitectura MVVM -  separar según lógica, vistas, modelos de datos, etc</a:t>
            </a:r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es-ES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" name="CuadroTexto 7"/>
          <p:cNvSpPr txBox="1"/>
          <p:nvPr/>
        </p:nvSpPr>
        <p:spPr>
          <a:xfrm>
            <a:off x="5268309" y="2803155"/>
            <a:ext cx="1655381" cy="1021556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Comprender el consumo de API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8827058" y="2496688"/>
            <a:ext cx="2516233" cy="132802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Aprender a usar estados – las vistas observan y reaccionan a los cambios</a:t>
            </a:r>
          </a:p>
        </p:txBody>
      </p:sp>
    </p:spTree>
    <p:extLst>
      <p:ext uri="{BB962C8B-B14F-4D97-AF65-F5344CB8AC3E}">
        <p14:creationId xmlns:p14="http://schemas.microsoft.com/office/powerpoint/2010/main" val="533007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s-ES" dirty="0" smtClean="0"/>
              <a:t>Análisis y diseño</a:t>
            </a:r>
            <a:endParaRPr lang="es-ES" dirty="0"/>
          </a:p>
        </p:txBody>
      </p:sp>
      <p:sp>
        <p:nvSpPr>
          <p:cNvPr id="4" name="CuadroTexto 3"/>
          <p:cNvSpPr txBox="1"/>
          <p:nvPr/>
        </p:nvSpPr>
        <p:spPr>
          <a:xfrm>
            <a:off x="772509" y="2377520"/>
            <a:ext cx="2456466" cy="132802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Gestionar la visualización de series de animación y mostrar información?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4211034" y="3186536"/>
            <a:ext cx="2008791" cy="715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Conservar info sobre el usuario?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6858001" y="2326905"/>
            <a:ext cx="1552574" cy="715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</a:t>
            </a:r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impleza y Rendimiento?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8259158" y="3321698"/>
            <a:ext cx="2741231" cy="40862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/>
              <a:t>Tema moderno?</a:t>
            </a:r>
            <a:endParaRPr lang="es-ES" dirty="0"/>
          </a:p>
        </p:txBody>
      </p:sp>
      <p:cxnSp>
        <p:nvCxnSpPr>
          <p:cNvPr id="9" name="Conector recto 8"/>
          <p:cNvCxnSpPr/>
          <p:nvPr/>
        </p:nvCxnSpPr>
        <p:spPr>
          <a:xfrm flipV="1">
            <a:off x="581192" y="4010025"/>
            <a:ext cx="10820233" cy="428625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CuadroTexto 9"/>
          <p:cNvSpPr txBox="1"/>
          <p:nvPr/>
        </p:nvSpPr>
        <p:spPr>
          <a:xfrm>
            <a:off x="772509" y="5100214"/>
            <a:ext cx="2456466" cy="715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API de Anime fiable y usar Compose</a:t>
            </a:r>
          </a:p>
        </p:txBody>
      </p:sp>
      <p:sp>
        <p:nvSpPr>
          <p:cNvPr id="11" name="CuadroTexto 10"/>
          <p:cNvSpPr txBox="1"/>
          <p:nvPr/>
        </p:nvSpPr>
        <p:spPr>
          <a:xfrm>
            <a:off x="4211033" y="4547050"/>
            <a:ext cx="2008791" cy="715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Implementar Base de datos Room</a:t>
            </a:r>
          </a:p>
        </p:txBody>
      </p:sp>
      <p:sp>
        <p:nvSpPr>
          <p:cNvPr id="12" name="CuadroTexto 11"/>
          <p:cNvSpPr txBox="1"/>
          <p:nvPr/>
        </p:nvSpPr>
        <p:spPr>
          <a:xfrm>
            <a:off x="6858001" y="5406681"/>
            <a:ext cx="2962274" cy="132802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</a:t>
            </a:r>
            <a:r>
              <a:rPr lang="es-ES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enderizado</a:t>
            </a:r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 de UI con Compose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Trabajo asíncrono y </a:t>
            </a:r>
            <a:r>
              <a:rPr lang="es-ES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</a:t>
            </a:r>
            <a:r>
              <a:rPr lang="es-ES" dirty="0" err="1" smtClean="0">
                <a:solidFill>
                  <a:schemeClr val="tx1">
                    <a:lumMod val="95000"/>
                    <a:lumOff val="5000"/>
                  </a:schemeClr>
                </a:solidFill>
              </a:rPr>
              <a:t>orrutinas</a:t>
            </a:r>
            <a:endParaRPr lang="es-ES" dirty="0" smtClean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3" name="CuadroTexto 12"/>
          <p:cNvSpPr txBox="1"/>
          <p:nvPr/>
        </p:nvSpPr>
        <p:spPr>
          <a:xfrm>
            <a:off x="8259158" y="4438650"/>
            <a:ext cx="2741231" cy="715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/>
              <a:t>Material 3 y Compose Navigation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78121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s-ES" dirty="0" smtClean="0"/>
              <a:t>Demo APP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841778">
            <a:off x="1667664" y="2084444"/>
            <a:ext cx="2046273" cy="431790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750733">
            <a:off x="8381429" y="2083674"/>
            <a:ext cx="2046273" cy="4285710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4680863" y="3868984"/>
            <a:ext cx="2741231" cy="715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/>
              <a:t>Probaremos el funcionamiento de la App</a:t>
            </a:r>
          </a:p>
        </p:txBody>
      </p:sp>
    </p:spTree>
    <p:extLst>
      <p:ext uri="{BB962C8B-B14F-4D97-AF65-F5344CB8AC3E}">
        <p14:creationId xmlns:p14="http://schemas.microsoft.com/office/powerpoint/2010/main" val="2256393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s-ES" dirty="0" smtClean="0"/>
              <a:t>Que vendrá después¿…?</a:t>
            </a:r>
            <a:endParaRPr lang="es-ES" dirty="0"/>
          </a:p>
        </p:txBody>
      </p:sp>
      <p:sp>
        <p:nvSpPr>
          <p:cNvPr id="4" name="CuadroTexto 3"/>
          <p:cNvSpPr txBox="1"/>
          <p:nvPr/>
        </p:nvSpPr>
        <p:spPr>
          <a:xfrm>
            <a:off x="581192" y="1965466"/>
            <a:ext cx="11029616" cy="1021556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/>
              <a:t>La app nació como idea </a:t>
            </a:r>
            <a:r>
              <a:rPr lang="es-ES" dirty="0" err="1" smtClean="0"/>
              <a:t>indie</a:t>
            </a:r>
            <a:r>
              <a:rPr lang="es-ES" dirty="0" smtClean="0"/>
              <a:t> aunque la escala de contenido que ofrece, la conectividad con otros usuarios para compartir la afición y funciones creativas que harían la app mucho más interesante aún están por añadir para poder competir con otras plataformas y ofrecer dentro de la idea original una exp más completa.</a:t>
            </a: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581192" y="3180757"/>
            <a:ext cx="11029616" cy="40862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smtClean="0"/>
              <a:t>Explotar una API más fuerte y visualizar mucha más información así como el personalizado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581192" y="4691939"/>
            <a:ext cx="11029616" cy="40862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smtClean="0"/>
              <a:t>Ofrecer de forma interactiva las recomendaciones de series basados en puntuaciones, géneros, categorías, edad,..</a:t>
            </a:r>
            <a:endParaRPr lang="es-ES" dirty="0"/>
          </a:p>
        </p:txBody>
      </p:sp>
      <p:sp>
        <p:nvSpPr>
          <p:cNvPr id="7" name="CuadroTexto 6"/>
          <p:cNvSpPr txBox="1"/>
          <p:nvPr/>
        </p:nvSpPr>
        <p:spPr>
          <a:xfrm>
            <a:off x="581192" y="5294297"/>
            <a:ext cx="11029616" cy="715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smtClean="0"/>
              <a:t>Expandir la app a otros formatos electrónicos como son el formato web y escritorio (Multiplataforma?, Existe una tecnología interesante para ello con </a:t>
            </a:r>
            <a:r>
              <a:rPr lang="es-ES" dirty="0"/>
              <a:t>A</a:t>
            </a:r>
            <a:r>
              <a:rPr lang="es-ES" dirty="0" smtClean="0"/>
              <a:t>ndroid?)</a:t>
            </a:r>
            <a:endParaRPr lang="es-ES" dirty="0"/>
          </a:p>
        </p:txBody>
      </p:sp>
      <p:sp>
        <p:nvSpPr>
          <p:cNvPr id="8" name="CuadroTexto 7"/>
          <p:cNvSpPr txBox="1"/>
          <p:nvPr/>
        </p:nvSpPr>
        <p:spPr>
          <a:xfrm>
            <a:off x="581192" y="3783115"/>
            <a:ext cx="11029616" cy="715089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smtClean="0"/>
              <a:t>Permitir que los usuario interaccionen entre ellos con un alojamiento remoto, chat, base de datos remota, por ejemplo</a:t>
            </a:r>
            <a:endParaRPr lang="es-ES" dirty="0"/>
          </a:p>
        </p:txBody>
      </p:sp>
      <p:sp>
        <p:nvSpPr>
          <p:cNvPr id="9" name="CuadroTexto 8"/>
          <p:cNvSpPr txBox="1"/>
          <p:nvPr/>
        </p:nvSpPr>
        <p:spPr>
          <a:xfrm>
            <a:off x="581192" y="6203121"/>
            <a:ext cx="11029616" cy="408623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smtClean="0"/>
              <a:t>Expandir la personalización del tema de la app, la posibilidad de reorganizar como se muestra la información, ...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4253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s-ES" dirty="0" smtClean="0"/>
              <a:t>Conclusión Final</a:t>
            </a:r>
            <a:endParaRPr lang="es-ES" dirty="0"/>
          </a:p>
        </p:txBody>
      </p:sp>
      <p:sp>
        <p:nvSpPr>
          <p:cNvPr id="4" name="CuadroTexto 3"/>
          <p:cNvSpPr txBox="1"/>
          <p:nvPr/>
        </p:nvSpPr>
        <p:spPr>
          <a:xfrm>
            <a:off x="581192" y="2135434"/>
            <a:ext cx="11029616" cy="4086225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" dirty="0" smtClean="0"/>
              <a:t>El proyecto y está app me ha permitido conocer como puede llegar a ser un desarrollo de este tipo y escala, aprender sobre las tecnologías actuales en dispositivos Android, como mostrar una app visualmente bonita al usuario en este caso: mis gustos, como gestionar algo que me parecía tan complicado al principio como son los estados, la comunicación con la API y la navegación con Compose. </a:t>
            </a:r>
          </a:p>
          <a:p>
            <a:endParaRPr lang="es-ES" dirty="0"/>
          </a:p>
          <a:p>
            <a:r>
              <a:rPr lang="es-ES" dirty="0" smtClean="0"/>
              <a:t>Aún con los retos, el tiempo limitante, las circunstancias del día a día y cuanto puedes bucear en todas las posibilidades en el desarrollo antes de aceptar sin más remedio que las ideas complicadas necesitan tiempo y mucho aprendizaje y hay que usar muchas veces una opción eficiente y más sencilla.</a:t>
            </a:r>
          </a:p>
          <a:p>
            <a:endParaRPr lang="es-ES" dirty="0"/>
          </a:p>
          <a:p>
            <a:r>
              <a:rPr lang="es-ES" dirty="0" smtClean="0"/>
              <a:t>Se aprende con la exp como cambia constantemente todo, el mantenimiento que debe tener cualquier software es absurdo y que la actualización constante con mejoras/problemas nuevos sea demasiado habitual</a:t>
            </a:r>
            <a:r>
              <a:rPr lang="es-ES" dirty="0" smtClean="0"/>
              <a:t>.</a:t>
            </a:r>
          </a:p>
          <a:p>
            <a:endParaRPr lang="es-ES" dirty="0"/>
          </a:p>
          <a:p>
            <a:pPr algn="ctr"/>
            <a:r>
              <a:rPr lang="es-ES" dirty="0" smtClean="0"/>
              <a:t>Gracias por escucharme </a:t>
            </a:r>
            <a:r>
              <a:rPr lang="es-ES" dirty="0" smtClean="0">
                <a:sym typeface="Wingdings" panose="05000000000000000000" pitchFamily="2" charset="2"/>
              </a:rPr>
              <a:t>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448420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ividendo">
  <a:themeElements>
    <a:clrScheme name="Dividendo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o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o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TM03457464[[fn=Dividendo]]</Template>
  <TotalTime>3557</TotalTime>
  <Words>661</Words>
  <Application>Microsoft Office PowerPoint</Application>
  <PresentationFormat>Panorámica</PresentationFormat>
  <Paragraphs>69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Arial</vt:lpstr>
      <vt:lpstr>Gill Sans MT</vt:lpstr>
      <vt:lpstr>Wingdings</vt:lpstr>
      <vt:lpstr>Wingdings 2</vt:lpstr>
      <vt:lpstr>Dividendo</vt:lpstr>
      <vt:lpstr>Proyecto app Anizeno</vt:lpstr>
      <vt:lpstr>Presentación de PowerPoint</vt:lpstr>
      <vt:lpstr>¿Por qué anizeno?</vt:lpstr>
      <vt:lpstr>Estado del arte</vt:lpstr>
      <vt:lpstr>Estado del arte</vt:lpstr>
      <vt:lpstr>Retos</vt:lpstr>
      <vt:lpstr>Análisis y diseño</vt:lpstr>
      <vt:lpstr>Demo APP</vt:lpstr>
      <vt:lpstr>Que vendrá después¿…?</vt:lpstr>
      <vt:lpstr>Conclusión Final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Anizeno</dc:title>
  <dc:creator>Gercansummer M</dc:creator>
  <cp:lastModifiedBy>Gercansummer M</cp:lastModifiedBy>
  <cp:revision>35</cp:revision>
  <dcterms:created xsi:type="dcterms:W3CDTF">2025-12-06T20:33:29Z</dcterms:created>
  <dcterms:modified xsi:type="dcterms:W3CDTF">2025-12-12T17:43:30Z</dcterms:modified>
</cp:coreProperties>
</file>