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5" r:id="rId6"/>
    <p:sldId id="260" r:id="rId7"/>
    <p:sldId id="261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94660"/>
  </p:normalViewPr>
  <p:slideViewPr>
    <p:cSldViewPr snapToGrid="0">
      <p:cViewPr>
        <p:scale>
          <a:sx n="100" d="100"/>
          <a:sy n="100" d="100"/>
        </p:scale>
        <p:origin x="990" y="4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CC025B-9383-44F1-93B5-F19722BC5653}" type="datetimeFigureOut">
              <a:rPr lang="es-ES" smtClean="0"/>
              <a:t>08/12/2025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6D671F24-306A-4342-B18F-74C91F27D38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766980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C025B-9383-44F1-93B5-F19722BC5653}" type="datetimeFigureOut">
              <a:rPr lang="es-ES" smtClean="0"/>
              <a:t>08/12/2025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6D671F24-306A-4342-B18F-74C91F27D38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320979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CC025B-9383-44F1-93B5-F19722BC5653}" type="datetimeFigureOut">
              <a:rPr lang="es-ES" smtClean="0"/>
              <a:t>08/12/2025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6D671F24-306A-4342-B18F-74C91F27D38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675184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C025B-9383-44F1-93B5-F19722BC5653}" type="datetimeFigureOut">
              <a:rPr lang="es-ES" smtClean="0"/>
              <a:t>08/12/2025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71F24-306A-4342-B18F-74C91F27D38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459246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C025B-9383-44F1-93B5-F19722BC5653}" type="datetimeFigureOut">
              <a:rPr lang="es-ES" smtClean="0"/>
              <a:t>08/12/2025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71F24-306A-4342-B18F-74C91F27D38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953009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C025B-9383-44F1-93B5-F19722BC5653}" type="datetimeFigureOut">
              <a:rPr lang="es-ES" smtClean="0"/>
              <a:t>08/12/2025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71F24-306A-4342-B18F-74C91F27D38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058122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C025B-9383-44F1-93B5-F19722BC5653}" type="datetimeFigureOut">
              <a:rPr lang="es-ES" smtClean="0"/>
              <a:t>08/12/2025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71F24-306A-4342-B18F-74C91F27D38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735679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CC025B-9383-44F1-93B5-F19722BC5653}" type="datetimeFigureOut">
              <a:rPr lang="es-ES" smtClean="0"/>
              <a:t>08/12/2025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6D671F24-306A-4342-B18F-74C91F27D38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63445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C025B-9383-44F1-93B5-F19722BC5653}" type="datetimeFigureOut">
              <a:rPr lang="es-ES" smtClean="0"/>
              <a:t>08/12/2025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71F24-306A-4342-B18F-74C91F27D38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959216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C025B-9383-44F1-93B5-F19722BC5653}" type="datetimeFigureOut">
              <a:rPr lang="es-ES" smtClean="0"/>
              <a:t>08/12/2025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71F24-306A-4342-B18F-74C91F27D38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773977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CC025B-9383-44F1-93B5-F19722BC5653}" type="datetimeFigureOut">
              <a:rPr lang="es-ES" smtClean="0"/>
              <a:t>08/12/2025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6D671F24-306A-4342-B18F-74C91F27D38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364738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CC025B-9383-44F1-93B5-F19722BC5653}" type="datetimeFigureOut">
              <a:rPr lang="es-ES" smtClean="0"/>
              <a:t>08/12/2025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6D671F24-306A-4342-B18F-74C91F27D386}" type="slidenum">
              <a:rPr lang="es-ES" smtClean="0"/>
              <a:t>‹Nº›</a:t>
            </a:fld>
            <a:endParaRPr lang="es-E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0919451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97710"/>
            <a:ext cx="9144000" cy="1100394"/>
          </a:xfrm>
        </p:spPr>
        <p:txBody>
          <a:bodyPr>
            <a:normAutofit/>
          </a:bodyPr>
          <a:lstStyle/>
          <a:p>
            <a:r>
              <a:rPr lang="en-US" b="1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Proyecto app Anizeno</a:t>
            </a:r>
            <a:endParaRPr lang="es-ES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4775930"/>
            <a:ext cx="9144000" cy="1031746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just"/>
            <a:r>
              <a:rPr lang="es-ES" dirty="0" smtClean="0"/>
              <a:t>Autor</a:t>
            </a:r>
            <a:r>
              <a:rPr lang="en-US" dirty="0" smtClean="0"/>
              <a:t>: Alejandro Soria Torres</a:t>
            </a:r>
          </a:p>
          <a:p>
            <a:pPr algn="just"/>
            <a:r>
              <a:rPr lang="en-US" dirty="0" smtClean="0"/>
              <a:t>Tutor: José Antonio Ortega Hidalgo</a:t>
            </a:r>
            <a:endParaRPr lang="es-ES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4538" y="1298104"/>
            <a:ext cx="4688327" cy="467575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882" y="1453978"/>
            <a:ext cx="1480236" cy="140974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19129" y="1453978"/>
            <a:ext cx="2882601" cy="141210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105616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32581" y="2135531"/>
            <a:ext cx="7466384" cy="268641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7436" y="5412259"/>
            <a:ext cx="3876675" cy="7620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6" name="CuadroTexto 5"/>
          <p:cNvSpPr txBox="1"/>
          <p:nvPr/>
        </p:nvSpPr>
        <p:spPr>
          <a:xfrm>
            <a:off x="4524151" y="996778"/>
            <a:ext cx="2883243" cy="40862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INTRODUCCIÓN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5392708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es-ES" dirty="0" smtClean="0"/>
              <a:t>¿Por</a:t>
            </a:r>
            <a:r>
              <a:rPr lang="en-US" dirty="0" smtClean="0"/>
              <a:t> </a:t>
            </a:r>
            <a:r>
              <a:rPr lang="es-ES" dirty="0" smtClean="0"/>
              <a:t>qué</a:t>
            </a:r>
            <a:r>
              <a:rPr lang="en-US" dirty="0" smtClean="0"/>
              <a:t> anizeno?</a:t>
            </a:r>
            <a:endParaRPr lang="es-ES" dirty="0"/>
          </a:p>
        </p:txBody>
      </p:sp>
      <p:sp>
        <p:nvSpPr>
          <p:cNvPr id="4" name="CuadroTexto 3"/>
          <p:cNvSpPr txBox="1"/>
          <p:nvPr/>
        </p:nvSpPr>
        <p:spPr>
          <a:xfrm>
            <a:off x="581193" y="2244416"/>
            <a:ext cx="2496064" cy="1634490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ES" dirty="0" smtClean="0"/>
              <a:t>Tenía que combinar </a:t>
            </a:r>
            <a:r>
              <a:rPr lang="es-ES" dirty="0" smtClean="0"/>
              <a:t>una idea que me gustara con el desarrollo en Android con Compose </a:t>
            </a:r>
            <a:endParaRPr lang="es-ES" dirty="0"/>
          </a:p>
        </p:txBody>
      </p:sp>
      <p:sp>
        <p:nvSpPr>
          <p:cNvPr id="5" name="CuadroTexto 4"/>
          <p:cNvSpPr txBox="1"/>
          <p:nvPr/>
        </p:nvSpPr>
        <p:spPr>
          <a:xfrm>
            <a:off x="3440625" y="2245203"/>
            <a:ext cx="2141837" cy="1328023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ES" dirty="0" smtClean="0"/>
              <a:t>Posibilidad de implementar versión web con Angular o similar</a:t>
            </a:r>
            <a:endParaRPr lang="es-ES" dirty="0"/>
          </a:p>
        </p:txBody>
      </p:sp>
      <p:sp>
        <p:nvSpPr>
          <p:cNvPr id="6" name="CuadroTexto 5"/>
          <p:cNvSpPr txBox="1"/>
          <p:nvPr/>
        </p:nvSpPr>
        <p:spPr>
          <a:xfrm>
            <a:off x="5945831" y="2244415"/>
            <a:ext cx="2552218" cy="1328023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ES" dirty="0" smtClean="0"/>
              <a:t>Tener en cuenta la disponibilidad de APIs para series 3D y de animación Asiática</a:t>
            </a:r>
            <a:endParaRPr lang="es-ES" dirty="0"/>
          </a:p>
        </p:txBody>
      </p:sp>
      <p:sp>
        <p:nvSpPr>
          <p:cNvPr id="7" name="CuadroTexto 6"/>
          <p:cNvSpPr txBox="1"/>
          <p:nvPr/>
        </p:nvSpPr>
        <p:spPr>
          <a:xfrm>
            <a:off x="3440624" y="4103262"/>
            <a:ext cx="2141837" cy="715089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ES" dirty="0" smtClean="0"/>
              <a:t>Diseño y temas propios</a:t>
            </a:r>
            <a:endParaRPr lang="es-ES" dirty="0"/>
          </a:p>
        </p:txBody>
      </p:sp>
      <p:sp>
        <p:nvSpPr>
          <p:cNvPr id="8" name="CuadroTexto 7"/>
          <p:cNvSpPr txBox="1"/>
          <p:nvPr/>
        </p:nvSpPr>
        <p:spPr>
          <a:xfrm>
            <a:off x="5945831" y="4103262"/>
            <a:ext cx="2552218" cy="1634490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ES" dirty="0" smtClean="0"/>
              <a:t>Alternativa a las grandes plataformas sobrecargadas de opciones, orientadas a la comunidad.</a:t>
            </a:r>
            <a:endParaRPr lang="es-ES" dirty="0"/>
          </a:p>
        </p:txBody>
      </p:sp>
      <p:sp>
        <p:nvSpPr>
          <p:cNvPr id="9" name="CuadroTexto 8"/>
          <p:cNvSpPr txBox="1"/>
          <p:nvPr/>
        </p:nvSpPr>
        <p:spPr>
          <a:xfrm>
            <a:off x="8861419" y="4103262"/>
            <a:ext cx="2552218" cy="715089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ES" dirty="0" smtClean="0"/>
              <a:t>Guía personal de las series que veo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3795133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es-ES" dirty="0" smtClean="0"/>
              <a:t>Estado del arte</a:t>
            </a:r>
            <a:endParaRPr lang="es-ES" dirty="0"/>
          </a:p>
        </p:txBody>
      </p:sp>
      <p:sp>
        <p:nvSpPr>
          <p:cNvPr id="6" name="CuadroTexto 5"/>
          <p:cNvSpPr txBox="1"/>
          <p:nvPr/>
        </p:nvSpPr>
        <p:spPr>
          <a:xfrm>
            <a:off x="581192" y="1977900"/>
            <a:ext cx="11029616" cy="3166824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ES" dirty="0" smtClean="0"/>
              <a:t>LA TECNOLOGÍA</a:t>
            </a:r>
          </a:p>
          <a:p>
            <a:endParaRPr lang="es-E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 smtClean="0"/>
              <a:t>La </a:t>
            </a:r>
            <a:r>
              <a:rPr lang="es-ES" b="1" dirty="0" smtClean="0"/>
              <a:t>UI imperativa </a:t>
            </a:r>
            <a:r>
              <a:rPr lang="es-ES" dirty="0" smtClean="0"/>
              <a:t>de XML </a:t>
            </a:r>
            <a:r>
              <a:rPr lang="es-ES" dirty="0" smtClean="0">
                <a:sym typeface="Wingdings" panose="05000000000000000000" pitchFamily="2" charset="2"/>
              </a:rPr>
              <a:t> </a:t>
            </a:r>
            <a:r>
              <a:rPr lang="es-ES" b="1" dirty="0" smtClean="0">
                <a:sym typeface="Wingdings" panose="05000000000000000000" pitchFamily="2" charset="2"/>
              </a:rPr>
              <a:t>declarativa</a:t>
            </a:r>
            <a:r>
              <a:rPr lang="es-ES" dirty="0" smtClean="0">
                <a:sym typeface="Wingdings" panose="05000000000000000000" pitchFamily="2" charset="2"/>
              </a:rPr>
              <a:t> con Compose (unificado)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 err="1" smtClean="0">
                <a:sym typeface="Wingdings" panose="05000000000000000000" pitchFamily="2" charset="2"/>
              </a:rPr>
              <a:t>Activities</a:t>
            </a:r>
            <a:r>
              <a:rPr lang="es-ES" dirty="0" smtClean="0">
                <a:sym typeface="Wingdings" panose="05000000000000000000" pitchFamily="2" charset="2"/>
              </a:rPr>
              <a:t>/</a:t>
            </a:r>
            <a:r>
              <a:rPr lang="es-ES" dirty="0" err="1" smtClean="0">
                <a:sym typeface="Wingdings" panose="05000000000000000000" pitchFamily="2" charset="2"/>
              </a:rPr>
              <a:t>Fragments</a:t>
            </a:r>
            <a:r>
              <a:rPr lang="es-ES" dirty="0" smtClean="0">
                <a:sym typeface="Wingdings" panose="05000000000000000000" pitchFamily="2" charset="2"/>
              </a:rPr>
              <a:t>  </a:t>
            </a:r>
            <a:r>
              <a:rPr lang="es-ES" b="1" dirty="0" smtClean="0">
                <a:sym typeface="Wingdings" panose="05000000000000000000" pitchFamily="2" charset="2"/>
              </a:rPr>
              <a:t>MVVM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 smtClean="0">
                <a:sym typeface="Wingdings" panose="05000000000000000000" pitchFamily="2" charset="2"/>
              </a:rPr>
              <a:t>Referenciado de vistas  </a:t>
            </a:r>
            <a:r>
              <a:rPr lang="es-ES" b="1" dirty="0" smtClean="0">
                <a:sym typeface="Wingdings" panose="05000000000000000000" pitchFamily="2" charset="2"/>
              </a:rPr>
              <a:t>UI reactiva </a:t>
            </a:r>
            <a:r>
              <a:rPr lang="es-ES" dirty="0" smtClean="0">
                <a:sym typeface="Wingdings" panose="05000000000000000000" pitchFamily="2" charset="2"/>
              </a:rPr>
              <a:t>basada en estados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b="1" dirty="0" err="1" smtClean="0">
                <a:sym typeface="Wingdings" panose="05000000000000000000" pitchFamily="2" charset="2"/>
              </a:rPr>
              <a:t>Binding</a:t>
            </a:r>
            <a:r>
              <a:rPr lang="es-ES" b="1" dirty="0" smtClean="0">
                <a:sym typeface="Wingdings" panose="05000000000000000000" pitchFamily="2" charset="2"/>
              </a:rPr>
              <a:t> manual </a:t>
            </a:r>
            <a:r>
              <a:rPr lang="es-ES" dirty="0" smtClean="0">
                <a:sym typeface="Wingdings" panose="05000000000000000000" pitchFamily="2" charset="2"/>
              </a:rPr>
              <a:t> Código </a:t>
            </a:r>
            <a:r>
              <a:rPr lang="es-ES" dirty="0" err="1" smtClean="0">
                <a:sym typeface="Wingdings" panose="05000000000000000000" pitchFamily="2" charset="2"/>
              </a:rPr>
              <a:t>composable</a:t>
            </a:r>
            <a:endParaRPr lang="es-ES" dirty="0" smtClean="0">
              <a:sym typeface="Wingdings" panose="05000000000000000000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 smtClean="0">
                <a:sym typeface="Wingdings" panose="05000000000000000000" pitchFamily="2" charset="2"/>
              </a:rPr>
              <a:t>Optimización manual  Compose optimiza auto.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 smtClean="0">
                <a:sym typeface="Wingdings" panose="05000000000000000000" pitchFamily="2" charset="2"/>
              </a:rPr>
              <a:t>Mayor carga de animaciones  </a:t>
            </a:r>
            <a:r>
              <a:rPr lang="es-ES" b="1" dirty="0" smtClean="0">
                <a:sym typeface="Wingdings" panose="05000000000000000000" pitchFamily="2" charset="2"/>
              </a:rPr>
              <a:t>Animaciones más ligeras </a:t>
            </a:r>
            <a:r>
              <a:rPr lang="es-ES" dirty="0" smtClean="0">
                <a:sym typeface="Wingdings" panose="05000000000000000000" pitchFamily="2" charset="2"/>
              </a:rPr>
              <a:t>(Compose)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b="1" dirty="0" err="1" smtClean="0"/>
              <a:t>LiveData</a:t>
            </a:r>
            <a:r>
              <a:rPr lang="es-ES" dirty="0" smtClean="0"/>
              <a:t> </a:t>
            </a:r>
            <a:r>
              <a:rPr lang="es-ES" dirty="0" smtClean="0">
                <a:sym typeface="Wingdings" panose="05000000000000000000" pitchFamily="2" charset="2"/>
              </a:rPr>
              <a:t> Estados </a:t>
            </a:r>
            <a:r>
              <a:rPr lang="es-ES" dirty="0" err="1" smtClean="0">
                <a:sym typeface="Wingdings" panose="05000000000000000000" pitchFamily="2" charset="2"/>
              </a:rPr>
              <a:t>StateFlow</a:t>
            </a:r>
            <a:r>
              <a:rPr lang="es-ES" dirty="0" smtClean="0">
                <a:sym typeface="Wingdings" panose="05000000000000000000" pitchFamily="2" charset="2"/>
              </a:rPr>
              <a:t>, </a:t>
            </a:r>
            <a:r>
              <a:rPr lang="es-ES" dirty="0" err="1" smtClean="0">
                <a:sym typeface="Wingdings" panose="05000000000000000000" pitchFamily="2" charset="2"/>
              </a:rPr>
              <a:t>remenber</a:t>
            </a:r>
            <a:r>
              <a:rPr lang="es-ES" dirty="0" smtClean="0">
                <a:sym typeface="Wingdings" panose="05000000000000000000" pitchFamily="2" charset="2"/>
              </a:rPr>
              <a:t>, </a:t>
            </a:r>
            <a:r>
              <a:rPr lang="es-ES" b="1" dirty="0" err="1" smtClean="0">
                <a:sym typeface="Wingdings" panose="05000000000000000000" pitchFamily="2" charset="2"/>
              </a:rPr>
              <a:t>MutableState</a:t>
            </a:r>
            <a:r>
              <a:rPr lang="es-ES" dirty="0" smtClean="0">
                <a:sym typeface="Wingdings" panose="05000000000000000000" pitchFamily="2" charset="2"/>
              </a:rPr>
              <a:t>, </a:t>
            </a:r>
            <a:r>
              <a:rPr lang="es-ES" dirty="0" err="1" smtClean="0">
                <a:sym typeface="Wingdings" panose="05000000000000000000" pitchFamily="2" charset="2"/>
              </a:rPr>
              <a:t>MutableStateFlow</a:t>
            </a:r>
            <a:endParaRPr lang="es-ES" dirty="0" smtClean="0">
              <a:sym typeface="Wingdings" panose="05000000000000000000" pitchFamily="2" charset="2"/>
            </a:endParaRPr>
          </a:p>
          <a:p>
            <a:pPr lvl="7"/>
            <a:endParaRPr lang="es-ES" dirty="0"/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608357">
            <a:off x="290128" y="5295347"/>
            <a:ext cx="3752850" cy="1085850"/>
          </a:xfrm>
          <a:prstGeom prst="rect">
            <a:avLst/>
          </a:prstGeom>
          <a:ln>
            <a:solidFill>
              <a:schemeClr val="accent3"/>
            </a:solidFill>
          </a:ln>
          <a:effectLst>
            <a:softEdge rad="112500"/>
          </a:effectLst>
        </p:spPr>
      </p:pic>
      <p:pic>
        <p:nvPicPr>
          <p:cNvPr id="8" name="Imagen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64400">
            <a:off x="4288438" y="5204859"/>
            <a:ext cx="3343275" cy="1266825"/>
          </a:xfrm>
          <a:prstGeom prst="rect">
            <a:avLst/>
          </a:prstGeom>
          <a:ln>
            <a:solidFill>
              <a:schemeClr val="accent3"/>
            </a:solidFill>
          </a:ln>
          <a:effectLst>
            <a:softEdge rad="112500"/>
          </a:effectLst>
        </p:spPr>
      </p:pic>
      <p:pic>
        <p:nvPicPr>
          <p:cNvPr id="9" name="Imagen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51733">
            <a:off x="8100626" y="5242958"/>
            <a:ext cx="3676650" cy="119062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 w="19050">
            <a:solidFill>
              <a:srgbClr val="00B050"/>
            </a:solidFill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0" name="Flecha doblada 9"/>
          <p:cNvSpPr/>
          <p:nvPr/>
        </p:nvSpPr>
        <p:spPr>
          <a:xfrm rot="18598643" flipV="1">
            <a:off x="7772474" y="4212454"/>
            <a:ext cx="1216713" cy="567538"/>
          </a:xfrm>
          <a:prstGeom prst="bentArrow">
            <a:avLst>
              <a:gd name="adj1" fmla="val 25000"/>
              <a:gd name="adj2" fmla="val 25000"/>
              <a:gd name="adj3" fmla="val 20445"/>
              <a:gd name="adj4" fmla="val 4375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11" name="CuadroTexto 10"/>
          <p:cNvSpPr txBox="1"/>
          <p:nvPr/>
        </p:nvSpPr>
        <p:spPr>
          <a:xfrm>
            <a:off x="8831888" y="3201950"/>
            <a:ext cx="193193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 smtClean="0"/>
              <a:t>Flujo Asíncrono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 smtClean="0"/>
              <a:t>Emite estados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 smtClean="0"/>
              <a:t>UI observando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3734359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es-ES" dirty="0" smtClean="0"/>
              <a:t>Estado del arte</a:t>
            </a:r>
            <a:endParaRPr lang="es-ES" dirty="0"/>
          </a:p>
        </p:txBody>
      </p:sp>
      <p:sp>
        <p:nvSpPr>
          <p:cNvPr id="6" name="CuadroTexto 5"/>
          <p:cNvSpPr txBox="1"/>
          <p:nvPr/>
        </p:nvSpPr>
        <p:spPr>
          <a:xfrm>
            <a:off x="4984104" y="1866690"/>
            <a:ext cx="2195172" cy="408623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ES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LA COMPETENCIA</a:t>
            </a:r>
          </a:p>
        </p:txBody>
      </p:sp>
      <p:sp>
        <p:nvSpPr>
          <p:cNvPr id="10" name="CuadroTexto 9"/>
          <p:cNvSpPr txBox="1"/>
          <p:nvPr/>
        </p:nvSpPr>
        <p:spPr>
          <a:xfrm>
            <a:off x="581191" y="2275313"/>
            <a:ext cx="3125835" cy="1634490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ES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Plataformas </a:t>
            </a:r>
            <a:r>
              <a:rPr lang="es-E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</a:t>
            </a:r>
            <a:r>
              <a:rPr lang="es-ES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omplejas</a:t>
            </a:r>
            <a:r>
              <a:rPr lang="es-ES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como MyAnimeList orientadas a la </a:t>
            </a:r>
            <a:r>
              <a:rPr lang="es-ES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masificación del contenido </a:t>
            </a:r>
            <a:r>
              <a:rPr lang="es-ES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y también la interacción.</a:t>
            </a:r>
          </a:p>
        </p:txBody>
      </p:sp>
      <p:sp>
        <p:nvSpPr>
          <p:cNvPr id="11" name="CuadroTexto 10"/>
          <p:cNvSpPr txBox="1"/>
          <p:nvPr/>
        </p:nvSpPr>
        <p:spPr>
          <a:xfrm>
            <a:off x="4053441" y="2833948"/>
            <a:ext cx="3125835" cy="1021556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ES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Plataformas como Kitsu orientadas a la</a:t>
            </a:r>
            <a:r>
              <a:rPr lang="es-ES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interacción masiva</a:t>
            </a:r>
          </a:p>
        </p:txBody>
      </p:sp>
      <p:sp>
        <p:nvSpPr>
          <p:cNvPr id="12" name="CuadroTexto 11"/>
          <p:cNvSpPr txBox="1"/>
          <p:nvPr/>
        </p:nvSpPr>
        <p:spPr>
          <a:xfrm>
            <a:off x="7851085" y="2581780"/>
            <a:ext cx="3125835" cy="1328023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ES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Implementaciones </a:t>
            </a:r>
            <a:r>
              <a:rPr lang="es-ES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multiplataforma</a:t>
            </a:r>
            <a:r>
              <a:rPr lang="es-ES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más complicadas de mantener y expandir</a:t>
            </a:r>
          </a:p>
        </p:txBody>
      </p:sp>
      <p:sp>
        <p:nvSpPr>
          <p:cNvPr id="13" name="CuadroTexto 12"/>
          <p:cNvSpPr txBox="1"/>
          <p:nvPr/>
        </p:nvSpPr>
        <p:spPr>
          <a:xfrm>
            <a:off x="2144108" y="4468438"/>
            <a:ext cx="3125835" cy="715089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ES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Comunidad antes que exp personal</a:t>
            </a:r>
            <a:endParaRPr lang="es-ES" b="1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4" name="CuadroTexto 13"/>
          <p:cNvSpPr txBox="1"/>
          <p:nvPr/>
        </p:nvSpPr>
        <p:spPr>
          <a:xfrm>
            <a:off x="6782011" y="4462161"/>
            <a:ext cx="3125835" cy="408623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ES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Plataformas grandes vs </a:t>
            </a:r>
            <a:r>
              <a:rPr lang="es-ES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indies</a:t>
            </a:r>
            <a:endParaRPr lang="es-ES" b="1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6737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es-ES" dirty="0" smtClean="0"/>
              <a:t>Retos</a:t>
            </a:r>
            <a:endParaRPr lang="es-ES" dirty="0"/>
          </a:p>
        </p:txBody>
      </p:sp>
      <p:sp>
        <p:nvSpPr>
          <p:cNvPr id="4" name="CuadroTexto 3"/>
          <p:cNvSpPr txBox="1"/>
          <p:nvPr/>
        </p:nvSpPr>
        <p:spPr>
          <a:xfrm>
            <a:off x="581191" y="2714761"/>
            <a:ext cx="1655381" cy="1634490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ES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UI declarativa con </a:t>
            </a:r>
            <a:r>
              <a:rPr lang="es-ES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kotlin</a:t>
            </a:r>
            <a:r>
              <a:rPr lang="es-ES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frente al XML aprendido en clase</a:t>
            </a:r>
          </a:p>
        </p:txBody>
      </p:sp>
      <p:sp>
        <p:nvSpPr>
          <p:cNvPr id="5" name="CuadroTexto 4"/>
          <p:cNvSpPr txBox="1"/>
          <p:nvPr/>
        </p:nvSpPr>
        <p:spPr>
          <a:xfrm>
            <a:off x="2364470" y="2000816"/>
            <a:ext cx="7463057" cy="408623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s-ES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Desarrollar en Android supone retos técnicos con la nueva Jetpack Compose</a:t>
            </a:r>
          </a:p>
        </p:txBody>
      </p:sp>
      <p:sp>
        <p:nvSpPr>
          <p:cNvPr id="6" name="CuadroTexto 5"/>
          <p:cNvSpPr txBox="1"/>
          <p:nvPr/>
        </p:nvSpPr>
        <p:spPr>
          <a:xfrm>
            <a:off x="7171677" y="4862906"/>
            <a:ext cx="1655381" cy="1021556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ES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Reducir el tamaño del APK</a:t>
            </a:r>
          </a:p>
        </p:txBody>
      </p:sp>
      <p:sp>
        <p:nvSpPr>
          <p:cNvPr id="7" name="CuadroTexto 6"/>
          <p:cNvSpPr txBox="1"/>
          <p:nvPr/>
        </p:nvSpPr>
        <p:spPr>
          <a:xfrm>
            <a:off x="2693772" y="4045661"/>
            <a:ext cx="2339122" cy="1634490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ES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Asimilar una arquitectura MVVM -  separar según lógica, vistas, modelos de datos, etc</a:t>
            </a:r>
            <a:r>
              <a:rPr lang="es-ES" dirty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  <a:endParaRPr lang="es-ES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8" name="CuadroTexto 7"/>
          <p:cNvSpPr txBox="1"/>
          <p:nvPr/>
        </p:nvSpPr>
        <p:spPr>
          <a:xfrm>
            <a:off x="5268309" y="2803155"/>
            <a:ext cx="1655381" cy="1021556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ES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Comprender el consumo de API</a:t>
            </a:r>
          </a:p>
        </p:txBody>
      </p:sp>
      <p:sp>
        <p:nvSpPr>
          <p:cNvPr id="9" name="CuadroTexto 8"/>
          <p:cNvSpPr txBox="1"/>
          <p:nvPr/>
        </p:nvSpPr>
        <p:spPr>
          <a:xfrm>
            <a:off x="8827058" y="2496688"/>
            <a:ext cx="2516233" cy="1328023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ES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Aprender a usar estados – las vistas observan y reaccionan a los cambios</a:t>
            </a:r>
          </a:p>
        </p:txBody>
      </p:sp>
    </p:spTree>
    <p:extLst>
      <p:ext uri="{BB962C8B-B14F-4D97-AF65-F5344CB8AC3E}">
        <p14:creationId xmlns:p14="http://schemas.microsoft.com/office/powerpoint/2010/main" val="5330077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es-ES" dirty="0" smtClean="0"/>
              <a:t>Análisis y diseño</a:t>
            </a:r>
            <a:endParaRPr lang="es-ES" dirty="0"/>
          </a:p>
        </p:txBody>
      </p:sp>
      <p:sp>
        <p:nvSpPr>
          <p:cNvPr id="4" name="CuadroTexto 3"/>
          <p:cNvSpPr txBox="1"/>
          <p:nvPr/>
        </p:nvSpPr>
        <p:spPr>
          <a:xfrm>
            <a:off x="772509" y="2377520"/>
            <a:ext cx="2456466" cy="1328023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ES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Gestionar la visualización de series de animación y mostrar información?</a:t>
            </a:r>
          </a:p>
        </p:txBody>
      </p:sp>
      <p:sp>
        <p:nvSpPr>
          <p:cNvPr id="5" name="CuadroTexto 4"/>
          <p:cNvSpPr txBox="1"/>
          <p:nvPr/>
        </p:nvSpPr>
        <p:spPr>
          <a:xfrm>
            <a:off x="4211034" y="3186536"/>
            <a:ext cx="2008791" cy="715089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ES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Conservar info sobre el usuario?</a:t>
            </a:r>
          </a:p>
        </p:txBody>
      </p:sp>
      <p:sp>
        <p:nvSpPr>
          <p:cNvPr id="6" name="CuadroTexto 5"/>
          <p:cNvSpPr txBox="1"/>
          <p:nvPr/>
        </p:nvSpPr>
        <p:spPr>
          <a:xfrm>
            <a:off x="6858001" y="2326905"/>
            <a:ext cx="1552574" cy="715089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tx1">
                    <a:lumMod val="95000"/>
                    <a:lumOff val="5000"/>
                  </a:schemeClr>
                </a:solidFill>
              </a:rPr>
              <a:t>S</a:t>
            </a:r>
            <a:r>
              <a:rPr lang="es-ES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impleza y Rendimiento?</a:t>
            </a:r>
          </a:p>
        </p:txBody>
      </p:sp>
      <p:sp>
        <p:nvSpPr>
          <p:cNvPr id="7" name="CuadroTexto 6"/>
          <p:cNvSpPr txBox="1"/>
          <p:nvPr/>
        </p:nvSpPr>
        <p:spPr>
          <a:xfrm>
            <a:off x="8259158" y="3321698"/>
            <a:ext cx="2741231" cy="408623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ES" dirty="0" smtClean="0"/>
              <a:t>Tema moderno?</a:t>
            </a:r>
            <a:endParaRPr lang="es-ES" dirty="0"/>
          </a:p>
        </p:txBody>
      </p:sp>
      <p:cxnSp>
        <p:nvCxnSpPr>
          <p:cNvPr id="9" name="Conector recto 8"/>
          <p:cNvCxnSpPr/>
          <p:nvPr/>
        </p:nvCxnSpPr>
        <p:spPr>
          <a:xfrm flipV="1">
            <a:off x="581192" y="4010025"/>
            <a:ext cx="10820233" cy="428625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CuadroTexto 9"/>
          <p:cNvSpPr txBox="1"/>
          <p:nvPr/>
        </p:nvSpPr>
        <p:spPr>
          <a:xfrm>
            <a:off x="772509" y="5100214"/>
            <a:ext cx="2456466" cy="715089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ES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API de Anime fiable y usar Compose</a:t>
            </a:r>
          </a:p>
        </p:txBody>
      </p:sp>
      <p:sp>
        <p:nvSpPr>
          <p:cNvPr id="11" name="CuadroTexto 10"/>
          <p:cNvSpPr txBox="1"/>
          <p:nvPr/>
        </p:nvSpPr>
        <p:spPr>
          <a:xfrm>
            <a:off x="4211033" y="4547050"/>
            <a:ext cx="2008791" cy="715089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ES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Implementar Base de datos Room</a:t>
            </a:r>
          </a:p>
        </p:txBody>
      </p:sp>
      <p:sp>
        <p:nvSpPr>
          <p:cNvPr id="12" name="CuadroTexto 11"/>
          <p:cNvSpPr txBox="1"/>
          <p:nvPr/>
        </p:nvSpPr>
        <p:spPr>
          <a:xfrm>
            <a:off x="6858001" y="5406681"/>
            <a:ext cx="2962274" cy="1328023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R</a:t>
            </a:r>
            <a:r>
              <a:rPr lang="es-ES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enderizado</a:t>
            </a:r>
            <a:r>
              <a:rPr lang="es-ES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de UI con Compose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Trabajo asíncrono y </a:t>
            </a:r>
            <a:r>
              <a:rPr lang="es-ES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C</a:t>
            </a:r>
            <a:r>
              <a:rPr lang="es-ES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orrutinas</a:t>
            </a:r>
            <a:endParaRPr lang="es-ES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3" name="CuadroTexto 12"/>
          <p:cNvSpPr txBox="1"/>
          <p:nvPr/>
        </p:nvSpPr>
        <p:spPr>
          <a:xfrm>
            <a:off x="8259158" y="4438650"/>
            <a:ext cx="2741231" cy="715089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ES" dirty="0" smtClean="0"/>
              <a:t>Material 3 y Compose Navigation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9781217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es-ES" dirty="0" smtClean="0"/>
              <a:t>Demo APP</a:t>
            </a:r>
            <a:endParaRPr lang="es-ES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0841778">
            <a:off x="1667664" y="2084444"/>
            <a:ext cx="2046273" cy="4317905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750733">
            <a:off x="8381429" y="2083674"/>
            <a:ext cx="2046273" cy="4285710"/>
          </a:xfrm>
          <a:prstGeom prst="rect">
            <a:avLst/>
          </a:prstGeom>
        </p:spPr>
      </p:pic>
      <p:sp>
        <p:nvSpPr>
          <p:cNvPr id="7" name="CuadroTexto 6"/>
          <p:cNvSpPr txBox="1"/>
          <p:nvPr/>
        </p:nvSpPr>
        <p:spPr>
          <a:xfrm>
            <a:off x="4680863" y="3868984"/>
            <a:ext cx="2741231" cy="715089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ES" dirty="0"/>
              <a:t>Probaremos el funcionamiento de la App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2563932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es-ES" dirty="0" smtClean="0"/>
              <a:t>Que vendrá después¿…?</a:t>
            </a:r>
            <a:endParaRPr lang="es-ES" dirty="0"/>
          </a:p>
        </p:txBody>
      </p:sp>
      <p:sp>
        <p:nvSpPr>
          <p:cNvPr id="4" name="CuadroTexto 3"/>
          <p:cNvSpPr txBox="1"/>
          <p:nvPr/>
        </p:nvSpPr>
        <p:spPr>
          <a:xfrm>
            <a:off x="581192" y="1965466"/>
            <a:ext cx="11029616" cy="1021556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ES" dirty="0" smtClean="0"/>
              <a:t>La app nació como idea </a:t>
            </a:r>
            <a:r>
              <a:rPr lang="es-ES" dirty="0" err="1" smtClean="0"/>
              <a:t>indie</a:t>
            </a:r>
            <a:r>
              <a:rPr lang="es-ES" dirty="0" smtClean="0"/>
              <a:t> aunque la escala de contenido que ofrece, la conectividad con otros usuarios para compartir la afición y funciones creativas que harían la app mucho más interesante aún están por añadir para poder competir con otras plataformas y ofrecer dentro de la idea original una exp más completa.</a:t>
            </a:r>
            <a:endParaRPr lang="es-ES" dirty="0"/>
          </a:p>
        </p:txBody>
      </p:sp>
      <p:sp>
        <p:nvSpPr>
          <p:cNvPr id="5" name="CuadroTexto 4"/>
          <p:cNvSpPr txBox="1"/>
          <p:nvPr/>
        </p:nvSpPr>
        <p:spPr>
          <a:xfrm>
            <a:off x="581192" y="3180757"/>
            <a:ext cx="11029616" cy="408623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 smtClean="0"/>
              <a:t>Explotar una API más fuerte y visualizar mucha más información así como el personalizado</a:t>
            </a:r>
            <a:endParaRPr lang="es-ES" dirty="0"/>
          </a:p>
        </p:txBody>
      </p:sp>
      <p:sp>
        <p:nvSpPr>
          <p:cNvPr id="6" name="CuadroTexto 5"/>
          <p:cNvSpPr txBox="1"/>
          <p:nvPr/>
        </p:nvSpPr>
        <p:spPr>
          <a:xfrm>
            <a:off x="581192" y="4691939"/>
            <a:ext cx="11029616" cy="408623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 smtClean="0"/>
              <a:t>Ofrecer de forma interactiva las recomendaciones de series basados en puntuaciones, géneros, categorías, edad,..</a:t>
            </a:r>
            <a:endParaRPr lang="es-ES" dirty="0"/>
          </a:p>
        </p:txBody>
      </p:sp>
      <p:sp>
        <p:nvSpPr>
          <p:cNvPr id="7" name="CuadroTexto 6"/>
          <p:cNvSpPr txBox="1"/>
          <p:nvPr/>
        </p:nvSpPr>
        <p:spPr>
          <a:xfrm>
            <a:off x="581192" y="5294297"/>
            <a:ext cx="11029616" cy="715089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 smtClean="0"/>
              <a:t>Expandir la app a otros formatos electrónicos como son el formato web y escritorio (Multiplataforma?, Existe una tecnología interesante para ello con </a:t>
            </a:r>
            <a:r>
              <a:rPr lang="es-ES" dirty="0"/>
              <a:t>A</a:t>
            </a:r>
            <a:r>
              <a:rPr lang="es-ES" dirty="0" smtClean="0"/>
              <a:t>ndroid?)</a:t>
            </a:r>
            <a:endParaRPr lang="es-ES" dirty="0"/>
          </a:p>
        </p:txBody>
      </p:sp>
      <p:sp>
        <p:nvSpPr>
          <p:cNvPr id="8" name="CuadroTexto 7"/>
          <p:cNvSpPr txBox="1"/>
          <p:nvPr/>
        </p:nvSpPr>
        <p:spPr>
          <a:xfrm>
            <a:off x="581192" y="3783115"/>
            <a:ext cx="11029616" cy="715089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 smtClean="0"/>
              <a:t>Permitir que los usuario interaccionen entre ellos con un alojamiento remoto, chat, base de datos remota, por ejemplo</a:t>
            </a:r>
            <a:endParaRPr lang="es-ES" dirty="0"/>
          </a:p>
        </p:txBody>
      </p:sp>
      <p:sp>
        <p:nvSpPr>
          <p:cNvPr id="9" name="CuadroTexto 8"/>
          <p:cNvSpPr txBox="1"/>
          <p:nvPr/>
        </p:nvSpPr>
        <p:spPr>
          <a:xfrm>
            <a:off x="581192" y="6203121"/>
            <a:ext cx="11029616" cy="408623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 smtClean="0"/>
              <a:t>Expandir la personalización del tema de la app, la posibilidad de reorganizar como se muestra la información, ...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64253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es-ES" dirty="0" smtClean="0"/>
              <a:t>Conclusión Final</a:t>
            </a:r>
            <a:endParaRPr lang="es-ES" dirty="0"/>
          </a:p>
        </p:txBody>
      </p:sp>
      <p:sp>
        <p:nvSpPr>
          <p:cNvPr id="4" name="CuadroTexto 3"/>
          <p:cNvSpPr txBox="1"/>
          <p:nvPr/>
        </p:nvSpPr>
        <p:spPr>
          <a:xfrm>
            <a:off x="581192" y="2135434"/>
            <a:ext cx="11029616" cy="3473291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ES" dirty="0" smtClean="0"/>
              <a:t>El proyecto y está app me ha permitido conocer como puede llegar a ser un desarrollo de este tipo y escala, aprender sobre las tecnologías actuales en dispositivos Android, como mostrar una app visualmente bonita al usuario en este caso: mis gustos, como gestionar algo que me parecía tan complicado al principio como son los estados, la comunicación con la API y la navegación con Compose. </a:t>
            </a:r>
          </a:p>
          <a:p>
            <a:endParaRPr lang="es-ES" dirty="0"/>
          </a:p>
          <a:p>
            <a:r>
              <a:rPr lang="es-ES" dirty="0" smtClean="0"/>
              <a:t>Aún con los retos, el tiempo limitante, las circunstancias del día a día y cuanto puedes bucear en todas las posibilidades en el desarrollo antes de aceptar sin más remedio que las ideas complicadas necesitan tiempo y mucho aprendizaje y hay que usar muchas veces una opción eficiente y más sencilla.</a:t>
            </a:r>
          </a:p>
          <a:p>
            <a:endParaRPr lang="es-ES" dirty="0"/>
          </a:p>
          <a:p>
            <a:r>
              <a:rPr lang="es-ES" dirty="0" smtClean="0"/>
              <a:t>Se aprende con la exp como cambia constantemente todo, el mantenimiento que debe tener cualquier software es absurdo y que la actualización constante con mejoras/problemas nuevos sea demasiado habitual.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448420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ividendo">
  <a:themeElements>
    <a:clrScheme name="Dividendo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Dividendo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o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TM03457464[[fn=Dividendo]]</Template>
  <TotalTime>3476</TotalTime>
  <Words>636</Words>
  <Application>Microsoft Office PowerPoint</Application>
  <PresentationFormat>Panorámica</PresentationFormat>
  <Paragraphs>63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5" baseType="lpstr">
      <vt:lpstr>Arial</vt:lpstr>
      <vt:lpstr>Gill Sans MT</vt:lpstr>
      <vt:lpstr>Wingdings</vt:lpstr>
      <vt:lpstr>Wingdings 2</vt:lpstr>
      <vt:lpstr>Dividendo</vt:lpstr>
      <vt:lpstr>Proyecto app Anizeno</vt:lpstr>
      <vt:lpstr>Presentación de PowerPoint</vt:lpstr>
      <vt:lpstr>¿Por qué anizeno?</vt:lpstr>
      <vt:lpstr>Estado del arte</vt:lpstr>
      <vt:lpstr>Estado del arte</vt:lpstr>
      <vt:lpstr>Retos</vt:lpstr>
      <vt:lpstr>Análisis y diseño</vt:lpstr>
      <vt:lpstr>Demo APP</vt:lpstr>
      <vt:lpstr>Que vendrá después¿…?</vt:lpstr>
      <vt:lpstr>Conclusión Final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Anizeno</dc:title>
  <dc:creator>Gercansummer M</dc:creator>
  <cp:lastModifiedBy>Gercansummer M</cp:lastModifiedBy>
  <cp:revision>28</cp:revision>
  <dcterms:created xsi:type="dcterms:W3CDTF">2025-12-06T20:33:29Z</dcterms:created>
  <dcterms:modified xsi:type="dcterms:W3CDTF">2025-12-10T21:08:34Z</dcterms:modified>
</cp:coreProperties>
</file>